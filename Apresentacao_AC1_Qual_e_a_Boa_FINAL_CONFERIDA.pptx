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059c681d09ef42b4" Type="http://schemas.openxmlformats.org/officeDocument/2006/relationships/extended-properties" Target="docProps/app.xml"/><Relationship Id="R541e8314ba1644a9" Type="http://schemas.openxmlformats.org/officeDocument/2006/relationships/officeDocument" Target="ppt/presentation.xml"/><Relationship Id="Rd53ff1ee504f40ec" Type="http://schemas.openxmlformats.org/package/2006/relationships/metadata/core-properties" Target="docProps/core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cfa7f796bd4ce4"/>
  </p:sldMasterIdLst>
  <p:notesMasterIdLst>
    <p:notesMasterId xmlns:r="http://schemas.openxmlformats.org/officeDocument/2006/relationships" r:id="R2dc33e4f120443c1"/>
  </p:notesMasterIdLst>
  <p:sldIdLst>
    <p:sldId xmlns:r="http://schemas.openxmlformats.org/officeDocument/2006/relationships" id="256" r:id="Refd5c444e36c417d"/>
    <p:sldId xmlns:r="http://schemas.openxmlformats.org/officeDocument/2006/relationships" id="257" r:id="R89d979373a304ea7"/>
    <p:sldId xmlns:r="http://schemas.openxmlformats.org/officeDocument/2006/relationships" id="258" r:id="Rf2c8689adfea4492"/>
    <p:sldId xmlns:r="http://schemas.openxmlformats.org/officeDocument/2006/relationships" id="259" r:id="R25d9b419812449b0"/>
    <p:sldId xmlns:r="http://schemas.openxmlformats.org/officeDocument/2006/relationships" id="260" r:id="Re8003ba140684113"/>
    <p:sldId xmlns:r="http://schemas.openxmlformats.org/officeDocument/2006/relationships" id="261" r:id="R371f87311bb04aed"/>
    <p:sldId xmlns:r="http://schemas.openxmlformats.org/officeDocument/2006/relationships" id="262" r:id="R3629a1d1b783416b"/>
    <p:sldId xmlns:r="http://schemas.openxmlformats.org/officeDocument/2006/relationships" id="263" r:id="R05566e4cbd974274"/>
    <p:sldId xmlns:r="http://schemas.openxmlformats.org/officeDocument/2006/relationships" id="264" r:id="R81fdaf80087940b6"/>
    <p:sldId xmlns:r="http://schemas.openxmlformats.org/officeDocument/2006/relationships" id="265" r:id="Ra4dbfe32650c4725"/>
    <p:sldId xmlns:r="http://schemas.openxmlformats.org/officeDocument/2006/relationships" id="266" r:id="Rad68ba7409844006"/>
    <p:sldId xmlns:r="http://schemas.openxmlformats.org/officeDocument/2006/relationships" id="267" r:id="R82419684f095442e"/>
    <p:sldId xmlns:ns0="http://schemas.openxmlformats.org/officeDocument/2006/relationships" id="268" ns0:id="rId18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5566e4cbd974274" Type="http://schemas.openxmlformats.org/officeDocument/2006/relationships/slide" Target="slides/slide8.xml"/><Relationship Id="R25d9b419812449b0" Type="http://schemas.openxmlformats.org/officeDocument/2006/relationships/slide" Target="slides/slide4.xml"/><Relationship Id="R2dc33e4f120443c1" Type="http://schemas.openxmlformats.org/officeDocument/2006/relationships/notesMaster" Target="notesMasters/notesMaster1.xml"/><Relationship Id="R3629a1d1b783416b" Type="http://schemas.openxmlformats.org/officeDocument/2006/relationships/slide" Target="slides/slide7.xml"/><Relationship Id="R371f87311bb04aed" Type="http://schemas.openxmlformats.org/officeDocument/2006/relationships/slide" Target="slides/slide6.xml"/><Relationship Id="R5e500f0e9da94510" Type="http://schemas.openxmlformats.org/officeDocument/2006/relationships/tableStyles" Target="tableStyles.xml"/><Relationship Id="R81fdaf80087940b6" Type="http://schemas.openxmlformats.org/officeDocument/2006/relationships/slide" Target="slides/slide9.xml"/><Relationship Id="R82419684f095442e" Type="http://schemas.openxmlformats.org/officeDocument/2006/relationships/slide" Target="slides/slide12.xml"/><Relationship Id="R89d979373a304ea7" Type="http://schemas.openxmlformats.org/officeDocument/2006/relationships/slide" Target="slides/slide2.xml"/><Relationship Id="R8a66229bded04d80" Type="http://schemas.openxmlformats.org/officeDocument/2006/relationships/theme" Target="theme/theme1.xml"/><Relationship Id="Ra4dbfe32650c4725" Type="http://schemas.openxmlformats.org/officeDocument/2006/relationships/slide" Target="slides/slide10.xml"/><Relationship Id="Rad68ba7409844006" Type="http://schemas.openxmlformats.org/officeDocument/2006/relationships/slide" Target="slides/slide11.xml"/><Relationship Id="Rcccfa7f796bd4ce4" Type="http://schemas.openxmlformats.org/officeDocument/2006/relationships/slideMaster" Target="slideMasters/slideMaster1.xml"/><Relationship Id="Re43a57b41e5340b2" Type="http://schemas.openxmlformats.org/officeDocument/2006/relationships/presProps" Target="presProps.xml"/><Relationship Id="Re8003ba140684113" Type="http://schemas.openxmlformats.org/officeDocument/2006/relationships/slide" Target="slides/slide5.xml"/><Relationship Id="Refd5c444e36c417d" Type="http://schemas.openxmlformats.org/officeDocument/2006/relationships/slide" Target="slides/slide1.xml"/><Relationship Id="Rf2c8689adfea4492" Type="http://schemas.openxmlformats.org/officeDocument/2006/relationships/slide" Target="slides/slide3.xml"/><Relationship Id="rId18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8668ba1b02784509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9ddf870b79c84b5e" Type="http://schemas.openxmlformats.org/officeDocument/2006/relationships/slide" Target="../slides/slide1.xml"/><Relationship Id="Rd7b0170bb42d4db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11e62492d23f402a" Type="http://schemas.openxmlformats.org/officeDocument/2006/relationships/notesMaster" Target="../notesMasters/notesMaster1.xml"/><Relationship Id="R1749d715279e4e53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bbac5df1ef07483c" Type="http://schemas.openxmlformats.org/officeDocument/2006/relationships/notesMaster" Target="../notesMasters/notesMaster1.xml"/><Relationship Id="Rc5b38a672dcc42d8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dfd45b3995a642ff" Type="http://schemas.openxmlformats.org/officeDocument/2006/relationships/slide" Target="../slides/slide4.xml"/><Relationship Id="Rf5dacea6c4d24bed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33bf0fce901546bc" Type="http://schemas.openxmlformats.org/officeDocument/2006/relationships/slide" Target="../slides/slide5.xml"/><Relationship Id="R5b5203af86b8488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0e506acd1ceb4712" Type="http://schemas.openxmlformats.org/officeDocument/2006/relationships/slide" Target="../slides/slide6.xml"/><Relationship Id="Rf9fa13312cb04406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265adb4ec09f4c99" Type="http://schemas.openxmlformats.org/officeDocument/2006/relationships/slide" Target="../slides/slide7.xml"/><Relationship Id="Rfb4ee20a53e2458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4833ce67f0224081" Type="http://schemas.openxmlformats.org/officeDocument/2006/relationships/notesMaster" Target="../notesMasters/notesMaster1.xml"/><Relationship Id="Rc2e4ad75964a42b7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26824be243c42d0" Type="http://schemas.openxmlformats.org/officeDocument/2006/relationships/slide" Target="../slides/slide9.xml"/><Relationship Id="R60131e3a3bc44396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b11e56ba34764457" Type="http://schemas.openxmlformats.org/officeDocument/2006/relationships/notesMaster" Target="../notesMasters/notesMaster1.xml"/><Relationship Id="Rd40613fdf4484f3c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7025bbee397e4d02" Type="http://schemas.openxmlformats.org/officeDocument/2006/relationships/notesMaster" Target="../notesMasters/notesMaster1.xml"/><Relationship Id="R917770862c7b4e4d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75f7a6ef4ccc4953" Type="http://schemas.openxmlformats.org/officeDocument/2006/relationships/slide" Target="../slides/slide12.xml"/><Relationship Id="Rf6bf6a7aef524481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Fontes do slide 12:</a:t>
            </a:r>
          </a:p>
          <a:p xmlns:a="http://schemas.openxmlformats.org/drawingml/2006/main">
            <a:r>
              <a:t>IBGE. Sorocaba (SP): população estimada de 766.390 pessoas em 2026. https://www.ibge.gov.br/cidades-e-estados/sp/sorocaba.html</a:t>
            </a:r>
          </a:p>
          <a:p xmlns:a="http://schemas.openxmlformats.org/drawingml/2006/main">
            <a:r>
              <a:t>CGI.br. TIC Domicílios 2025: 157 milhões de usuários de Internet e 85% da população. https://cetic.br/media/analises/tic_domicilios_2025_principais_resultados.pdf</a:t>
            </a:r>
          </a:p>
          <a:p xmlns:a="http://schemas.openxmlformats.org/drawingml/2006/main">
            <a:r>
              <a:t>Cálculo do SAM: 766.390 × 0,85 = 651.432 pessoas, arredondado para aproximadamente 651 mil.</a:t>
            </a:r>
          </a:p>
          <a:p xmlns:a="http://schemas.openxmlformats.org/drawingml/2006/main">
            <a:r>
              <a:t>SOM: meta interna acadêmica de 10 mil usuários e 150 parceiros em 24 meses.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bc030276f6154ec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3429c430e21643f4" Type="http://schemas.openxmlformats.org/officeDocument/2006/relationships/theme" Target="theme/theme2.xml"/><Relationship Id="R411f356033d04364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11f356033d0436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175c607983514d22" Type="http://schemas.openxmlformats.org/officeDocument/2006/relationships/notesSlide" Target="../notesSlides/notesSlide1.xml"/><Relationship Id="R3481965308e1443b" Type="http://schemas.openxmlformats.org/officeDocument/2006/relationships/image" Target="../media/image.png"/><Relationship Id="Re1dc2a0197fc4aac" Type="http://schemas.openxmlformats.org/officeDocument/2006/relationships/image" Target="../media/image.jpeg"/><Relationship Id="Ref493dd4c3f6477e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444448783d1841b6" Type="http://schemas.openxmlformats.org/officeDocument/2006/relationships/notesSlide" Target="../notesSlides/notesSlide2.xml"/><Relationship Id="R644e1c3c56094f52" Type="http://schemas.openxmlformats.org/officeDocument/2006/relationships/slideLayout" Target="../slideLayouts/slideLayout1.xml"/><Relationship Id="R91fcbd9d171d40a4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7deeed4f8fe14fe0" Type="http://schemas.openxmlformats.org/officeDocument/2006/relationships/slideLayout" Target="../slideLayouts/slideLayout1.xml"/><Relationship Id="R86b41ac9aa8f4eeb" Type="http://schemas.openxmlformats.org/officeDocument/2006/relationships/notesSlide" Target="../notesSlides/notesSlide3.xml"/><Relationship Id="R9162297d47764286" Type="http://schemas.openxmlformats.org/officeDocument/2006/relationships/image" Target="../media/image2.jpeg"/></Relationships>
</file>

<file path=ppt/slides/_rels/slide4.xml.rels><?xml version='1.0' encoding='UTF-8' standalone='yes'?>
<Relationships xmlns="http://schemas.openxmlformats.org/package/2006/relationships"><Relationship Id="R090553bc0db842c7" Type="http://schemas.openxmlformats.org/officeDocument/2006/relationships/slideLayout" Target="../slideLayouts/slideLayout1.xml"/><Relationship Id="Ra1cf08dfc8244fe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0aa93b878a7b40c2" Type="http://schemas.openxmlformats.org/officeDocument/2006/relationships/notesSlide" Target="../notesSlides/notesSlide5.xml"/><Relationship Id="R6e394adc19894e9d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535d80b607db4c6b" Type="http://schemas.openxmlformats.org/officeDocument/2006/relationships/notesSlide" Target="../notesSlides/notesSlide6.xml"/><Relationship Id="R8e727526a70f49d4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6a1014b55efc4cbb" Type="http://schemas.openxmlformats.org/officeDocument/2006/relationships/slideLayout" Target="../slideLayouts/slideLayout1.xml"/><Relationship Id="R9bc5a36a4d224c3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418d9509054846ab" Type="http://schemas.openxmlformats.org/officeDocument/2006/relationships/slideLayout" Target="../slideLayouts/slideLayout1.xml"/><Relationship Id="R545e1d19bac74a56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29fa762cccbf49ee" Type="http://schemas.openxmlformats.org/officeDocument/2006/relationships/slideLayout" Target="../slideLayouts/slideLayout1.xml"/><Relationship Id="R80e6f32baa0443a0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4f783da3413e4525" Type="http://schemas.openxmlformats.org/officeDocument/2006/relationships/slideLayout" Target="../slideLayouts/slideLayout1.xml"/><Relationship Id="Ra324a32a6193466d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445617f3e9dd412b" Type="http://schemas.openxmlformats.org/officeDocument/2006/relationships/notesSlide" Target="../notesSlides/notesSlide11.xml"/><Relationship Id="R949d688caf53437d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0920940f74ff41bb" Type="http://schemas.openxmlformats.org/officeDocument/2006/relationships/slideLayout" Target="../slideLayouts/slideLayout1.xml"/><Relationship Id="Rf3e90020351541f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dc2a0197fc4a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1965308e1443b"/>
          <a:stretch xmlns:a="http://schemas.openxmlformats.org/drawingml/2006/main"/>
        </p:blipFill>
        <p:spPr>
          <a:xfrm xmlns:a="http://schemas.openxmlformats.org/drawingml/2006/main">
            <a:off x="9906000" y="1204466"/>
            <a:ext cx="6191250" cy="7211319"/>
          </a:xfrm>
          <a:prstGeom xmlns:a="http://schemas.openxmlformats.org/drawingml/2006/main" prst="rect">
            <a:avLst/>
          </a:prstGeom>
        </p:spPr>
      </p:pic>
      <p:sp>
        <p:nvSpPr>
          <p:cNvPr id="3" name="course">
            <a:extLst xmlns:a="http://schemas.openxmlformats.org/drawingml/2006/main">
              <a:ext uri="{FF2B5EF4-FFF2-40B4-BE49-F238E27FC236}">
                <a16:creationId xmlns:a16="http://schemas.microsoft.com/office/drawing/2014/main" id="{D6665CE0-59AD-4F8F-AE25-7F306471B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8572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D7E4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D7E4FF"/>
                </a:solidFill>
                <a:latin typeface="Nimbus Sans"/>
                <a:ea typeface="Nimbus Sans"/>
                <a:cs typeface="Nimbus Sans"/>
              </a:rPr>
              <a:t>ADS  •  FACENS  •  2026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EA96533D-F300-4899-BC49-4D4EC876A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7810500" cy="2524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buNone/>
              <a:defRPr sz="7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QUAL É A</a:t>
            </a:r>
          </a:p>
          <a:p xmlns:a="http://schemas.openxmlformats.org/drawingml/2006/main">
            <a:pPr algn="l">
              <a:lnSpc>
                <a:spcPct val="90000"/>
              </a:lnSpc>
              <a:buNone/>
              <a:defRPr sz="7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BOA?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593EF87-2EDA-4DED-9FAB-9DF9BDED1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191125"/>
            <a:ext cx="757237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Plataforma para descobrir experiências, eventos e lugares próximos</a:t>
            </a:r>
          </a:p>
        </p:txBody>
      </p:sp>
      <p:sp>
        <p:nvSpPr>
          <p:cNvPr id="6" name="delivery-pill">
            <a:extLst xmlns:a="http://schemas.openxmlformats.org/drawingml/2006/main">
              <a:ext uri="{FF2B5EF4-FFF2-40B4-BE49-F238E27FC236}">
                <a16:creationId xmlns:a16="http://schemas.microsoft.com/office/drawing/2014/main" id="{098E57D6-810A-413B-B634-E69AE43D4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6667500"/>
            <a:ext cx="33337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4D6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delivery-pill-text">
            <a:extLst xmlns:a="http://schemas.openxmlformats.org/drawingml/2006/main">
              <a:ext uri="{FF2B5EF4-FFF2-40B4-BE49-F238E27FC236}">
                <a16:creationId xmlns:a16="http://schemas.microsoft.com/office/drawing/2014/main" id="{8C99900E-0820-43F2-AF99-23F5EF443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681990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PRIMEIRA ENTREGA  •  AC1</a:t>
            </a:r>
          </a:p>
        </p:txBody>
      </p:sp>
      <p:sp>
        <p:nvSpPr>
          <p:cNvPr id="8" name="group">
            <a:extLst xmlns:a="http://schemas.openxmlformats.org/drawingml/2006/main">
              <a:ext uri="{FF2B5EF4-FFF2-40B4-BE49-F238E27FC236}">
                <a16:creationId xmlns:a16="http://schemas.microsoft.com/office/drawing/2014/main" id="{EBCFA927-2C7D-4AB4-B9B9-4A6DF9511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8915400"/>
            <a:ext cx="1266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>
                <a:solidFill>
                  <a:srgbClr val="E7EEFF"/>
                </a:solidFill>
                <a:latin typeface="Nimbus Sans"/>
                <a:ea typeface="Nimbus Sans"/>
                <a:cs typeface="Nimbus Sans"/>
              </a:defRPr>
            </a:pPr>
            <a:r>
              <a:rPr sz="1275">
                <a:solidFill>
                  <a:srgbClr val="E7EEFF"/>
                </a:solidFill>
                <a:latin typeface="Nimbus Sans"/>
                <a:ea typeface="Nimbus Sans"/>
                <a:cs typeface="Nimbus Sans"/>
              </a:rPr>
              <a:t>Caíque Piasecki Fadel  •  Gabriel Henrique Fernandes Torres  •  João Pedro Acquati de Amorim  •  Pedro Henrique Paulino de Almeida</a:t>
            </a:r>
          </a:p>
        </p:txBody>
      </p:sp>
    </p:spTree>
    <p:extLst>
      <p:ext uri="{BB962C8B-B14F-4D97-AF65-F5344CB8AC3E}">
        <p14:creationId xmlns:p14="http://schemas.microsoft.com/office/powerpoint/2010/main" val="2332081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35A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fcbd9d171d40a4"/>
          <a:srcRect xmlns:a="http://schemas.openxmlformats.org/drawingml/2006/main" l="22396" t="0" r="2239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096500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agenda-panel">
            <a:extLst xmlns:a="http://schemas.openxmlformats.org/drawingml/2006/main">
              <a:ext uri="{FF2B5EF4-FFF2-40B4-BE49-F238E27FC236}">
                <a16:creationId xmlns:a16="http://schemas.microsoft.com/office/drawing/2014/main" id="{02CD507E-557E-49E5-8026-8EF835660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8382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agenda-title">
            <a:extLst xmlns:a="http://schemas.openxmlformats.org/drawingml/2006/main">
              <a:ext uri="{FF2B5EF4-FFF2-40B4-BE49-F238E27FC236}">
                <a16:creationId xmlns:a16="http://schemas.microsoft.com/office/drawing/2014/main" id="{0BFF7C3F-8BBE-4864-BDE8-D1D895BA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1430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52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Agenda</a:t>
            </a:r>
          </a:p>
        </p:txBody>
      </p:sp>
      <p:sp>
        <p:nvSpPr>
          <p:cNvPr id="4" name="agenda-tag">
            <a:extLst xmlns:a="http://schemas.openxmlformats.org/drawingml/2006/main">
              <a:ext uri="{FF2B5EF4-FFF2-40B4-BE49-F238E27FC236}">
                <a16:creationId xmlns:a16="http://schemas.microsoft.com/office/drawing/2014/main" id="{0A0DA6BD-7456-4A68-8883-5271DA26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383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8F2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E8F2FF"/>
                </a:solidFill>
                <a:latin typeface="Nimbus Sans"/>
                <a:ea typeface="Nimbus Sans"/>
                <a:cs typeface="Nimbus Sans"/>
              </a:rPr>
              <a:t>CONTEÚDO DA AC1</a:t>
            </a:r>
          </a:p>
        </p:txBody>
      </p:sp>
      <p:sp>
        <p:nvSpPr>
          <p:cNvPr id="5" name="agenda-num-bg-0">
            <a:extLst xmlns:a="http://schemas.openxmlformats.org/drawingml/2006/main">
              <a:ext uri="{FF2B5EF4-FFF2-40B4-BE49-F238E27FC236}">
                <a16:creationId xmlns:a16="http://schemas.microsoft.com/office/drawing/2014/main" id="{058E065A-EECA-47AC-9706-FE1434294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7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genda-num-0">
            <a:extLst xmlns:a="http://schemas.openxmlformats.org/drawingml/2006/main">
              <a:ext uri="{FF2B5EF4-FFF2-40B4-BE49-F238E27FC236}">
                <a16:creationId xmlns:a16="http://schemas.microsoft.com/office/drawing/2014/main" id="{D0FF6C94-81E3-4F1A-912C-D309E66D2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620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7" name="agenda-item-0">
            <a:extLst xmlns:a="http://schemas.openxmlformats.org/drawingml/2006/main">
              <a:ext uri="{FF2B5EF4-FFF2-40B4-BE49-F238E27FC236}">
                <a16:creationId xmlns:a16="http://schemas.microsoft.com/office/drawing/2014/main" id="{0E36D823-8890-4BAC-8FCA-071B08FA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667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Documentação inicial do projeto</a:t>
            </a:r>
          </a:p>
        </p:txBody>
      </p:sp>
      <p:sp>
        <p:nvSpPr>
          <p:cNvPr id="8" name="agenda-line-0">
            <a:extLst xmlns:a="http://schemas.openxmlformats.org/drawingml/2006/main">
              <a:ext uri="{FF2B5EF4-FFF2-40B4-BE49-F238E27FC236}">
                <a16:creationId xmlns:a16="http://schemas.microsoft.com/office/drawing/2014/main" id="{1C1D6FAC-9791-4085-A2FC-5871B1C21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3335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9" name="agenda-num-bg-1">
            <a:extLst xmlns:a="http://schemas.openxmlformats.org/drawingml/2006/main">
              <a:ext uri="{FF2B5EF4-FFF2-40B4-BE49-F238E27FC236}">
                <a16:creationId xmlns:a16="http://schemas.microsoft.com/office/drawing/2014/main" id="{500742DB-4594-4CEF-A468-13751FC4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7811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genda-num-1">
            <a:extLst xmlns:a="http://schemas.openxmlformats.org/drawingml/2006/main">
              <a:ext uri="{FF2B5EF4-FFF2-40B4-BE49-F238E27FC236}">
                <a16:creationId xmlns:a16="http://schemas.microsoft.com/office/drawing/2014/main" id="{CD2D2BC2-26B3-46D9-83A3-C1306061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18954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1" name="agenda-item-1">
            <a:extLst xmlns:a="http://schemas.openxmlformats.org/drawingml/2006/main">
              <a:ext uri="{FF2B5EF4-FFF2-40B4-BE49-F238E27FC236}">
                <a16:creationId xmlns:a16="http://schemas.microsoft.com/office/drawing/2014/main" id="{C967582B-7BBF-4498-89EA-A93F841E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8002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Objetivos, justificativa e orçamento</a:t>
            </a:r>
          </a:p>
        </p:txBody>
      </p:sp>
      <p:sp>
        <p:nvSpPr>
          <p:cNvPr id="12" name="agenda-line-1">
            <a:extLst xmlns:a="http://schemas.openxmlformats.org/drawingml/2006/main">
              <a:ext uri="{FF2B5EF4-FFF2-40B4-BE49-F238E27FC236}">
                <a16:creationId xmlns:a16="http://schemas.microsoft.com/office/drawing/2014/main" id="{F304B401-E728-4A64-B86D-E73C517A3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4669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13" name="agenda-num-bg-2">
            <a:extLst xmlns:a="http://schemas.openxmlformats.org/drawingml/2006/main">
              <a:ext uri="{FF2B5EF4-FFF2-40B4-BE49-F238E27FC236}">
                <a16:creationId xmlns:a16="http://schemas.microsoft.com/office/drawing/2014/main" id="{317DD702-24FF-41FA-AAE5-5992DB687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29146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agenda-num-2">
            <a:extLst xmlns:a="http://schemas.openxmlformats.org/drawingml/2006/main">
              <a:ext uri="{FF2B5EF4-FFF2-40B4-BE49-F238E27FC236}">
                <a16:creationId xmlns:a16="http://schemas.microsoft.com/office/drawing/2014/main" id="{0F2A808F-9FF3-4031-9F85-8A04B36B2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0289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15" name="agenda-item-2">
            <a:extLst xmlns:a="http://schemas.openxmlformats.org/drawingml/2006/main">
              <a:ext uri="{FF2B5EF4-FFF2-40B4-BE49-F238E27FC236}">
                <a16:creationId xmlns:a16="http://schemas.microsoft.com/office/drawing/2014/main" id="{AA66EB20-80A1-4729-AA87-E14B8791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29337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Persona do cliente ideal</a:t>
            </a:r>
          </a:p>
        </p:txBody>
      </p:sp>
      <p:sp>
        <p:nvSpPr>
          <p:cNvPr id="16" name="agenda-line-2">
            <a:extLst xmlns:a="http://schemas.openxmlformats.org/drawingml/2006/main">
              <a:ext uri="{FF2B5EF4-FFF2-40B4-BE49-F238E27FC236}">
                <a16:creationId xmlns:a16="http://schemas.microsoft.com/office/drawing/2014/main" id="{71ADE24E-2F2F-4BFD-AA33-7D468C86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36004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17" name="agenda-num-bg-3">
            <a:extLst xmlns:a="http://schemas.openxmlformats.org/drawingml/2006/main">
              <a:ext uri="{FF2B5EF4-FFF2-40B4-BE49-F238E27FC236}">
                <a16:creationId xmlns:a16="http://schemas.microsoft.com/office/drawing/2014/main" id="{21673676-31BA-494C-AD1B-E6CEB38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0481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agenda-num-3">
            <a:extLst xmlns:a="http://schemas.openxmlformats.org/drawingml/2006/main">
              <a:ext uri="{FF2B5EF4-FFF2-40B4-BE49-F238E27FC236}">
                <a16:creationId xmlns:a16="http://schemas.microsoft.com/office/drawing/2014/main" id="{CE4E6001-1750-4051-AD84-A2D7B7A53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624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19" name="agenda-item-3">
            <a:extLst xmlns:a="http://schemas.openxmlformats.org/drawingml/2006/main">
              <a:ext uri="{FF2B5EF4-FFF2-40B4-BE49-F238E27FC236}">
                <a16:creationId xmlns:a16="http://schemas.microsoft.com/office/drawing/2014/main" id="{5348EDB1-8D10-4154-AAE7-D7DB8E22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0671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Trello e acompanhamento das tarefas</a:t>
            </a:r>
          </a:p>
        </p:txBody>
      </p:sp>
      <p:sp>
        <p:nvSpPr>
          <p:cNvPr id="20" name="agenda-line-3">
            <a:extLst xmlns:a="http://schemas.openxmlformats.org/drawingml/2006/main">
              <a:ext uri="{FF2B5EF4-FFF2-40B4-BE49-F238E27FC236}">
                <a16:creationId xmlns:a16="http://schemas.microsoft.com/office/drawing/2014/main" id="{7FF32647-667B-421F-A562-872FFAD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473392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21" name="agenda-num-bg-4">
            <a:extLst xmlns:a="http://schemas.openxmlformats.org/drawingml/2006/main">
              <a:ext uri="{FF2B5EF4-FFF2-40B4-BE49-F238E27FC236}">
                <a16:creationId xmlns:a16="http://schemas.microsoft.com/office/drawing/2014/main" id="{069EC742-2B72-4133-8EB9-45D6070B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1816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agenda-num-4">
            <a:extLst xmlns:a="http://schemas.openxmlformats.org/drawingml/2006/main">
              <a:ext uri="{FF2B5EF4-FFF2-40B4-BE49-F238E27FC236}">
                <a16:creationId xmlns:a16="http://schemas.microsoft.com/office/drawing/2014/main" id="{97C30B5C-109E-4D98-8CC0-C3AE73A3C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9590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23" name="agenda-item-4">
            <a:extLst xmlns:a="http://schemas.openxmlformats.org/drawingml/2006/main">
              <a:ext uri="{FF2B5EF4-FFF2-40B4-BE49-F238E27FC236}">
                <a16:creationId xmlns:a16="http://schemas.microsoft.com/office/drawing/2014/main" id="{183AA45F-26F9-45BE-B444-6C4475B6F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20065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Cronograma do desenvolvimento web</a:t>
            </a:r>
          </a:p>
        </p:txBody>
      </p:sp>
      <p:sp>
        <p:nvSpPr>
          <p:cNvPr id="24" name="agenda-line-4">
            <a:extLst xmlns:a="http://schemas.openxmlformats.org/drawingml/2006/main">
              <a:ext uri="{FF2B5EF4-FFF2-40B4-BE49-F238E27FC236}">
                <a16:creationId xmlns:a16="http://schemas.microsoft.com/office/drawing/2014/main" id="{793965BC-FD86-4CB4-9CB8-06DEBCA34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586740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25" name="agenda-num-bg-5">
            <a:extLst xmlns:a="http://schemas.openxmlformats.org/drawingml/2006/main">
              <a:ext uri="{FF2B5EF4-FFF2-40B4-BE49-F238E27FC236}">
                <a16:creationId xmlns:a16="http://schemas.microsoft.com/office/drawing/2014/main" id="{B5B35EE7-8603-4D4F-B699-5529C962B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3150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agenda-num-5">
            <a:extLst xmlns:a="http://schemas.openxmlformats.org/drawingml/2006/main">
              <a:ext uri="{FF2B5EF4-FFF2-40B4-BE49-F238E27FC236}">
                <a16:creationId xmlns:a16="http://schemas.microsoft.com/office/drawing/2014/main" id="{C4D40043-3A54-47D9-A102-72F46B370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42937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27" name="agenda-item-5">
            <a:extLst xmlns:a="http://schemas.openxmlformats.org/drawingml/2006/main">
              <a:ext uri="{FF2B5EF4-FFF2-40B4-BE49-F238E27FC236}">
                <a16:creationId xmlns:a16="http://schemas.microsoft.com/office/drawing/2014/main" id="{C2B5079E-B66E-436A-83A2-16EDACC97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33412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Distribuição de papéis do grupo</a:t>
            </a:r>
          </a:p>
        </p:txBody>
      </p:sp>
      <p:sp>
        <p:nvSpPr>
          <p:cNvPr id="28" name="agenda-line-5">
            <a:extLst xmlns:a="http://schemas.openxmlformats.org/drawingml/2006/main">
              <a:ext uri="{FF2B5EF4-FFF2-40B4-BE49-F238E27FC236}">
                <a16:creationId xmlns:a16="http://schemas.microsoft.com/office/drawing/2014/main" id="{8CF66A48-8EE8-464B-9F00-6FAB9911F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000875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29" name="agenda-num-bg-6">
            <a:extLst xmlns:a="http://schemas.openxmlformats.org/drawingml/2006/main">
              <a:ext uri="{FF2B5EF4-FFF2-40B4-BE49-F238E27FC236}">
                <a16:creationId xmlns:a16="http://schemas.microsoft.com/office/drawing/2014/main" id="{603AA591-EED9-4EFD-8BED-6CCFD3D7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44855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agenda-num-6">
            <a:extLst xmlns:a="http://schemas.openxmlformats.org/drawingml/2006/main">
              <a:ext uri="{FF2B5EF4-FFF2-40B4-BE49-F238E27FC236}">
                <a16:creationId xmlns:a16="http://schemas.microsoft.com/office/drawing/2014/main" id="{21925BC7-0F4D-47F2-8068-570E00D63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562850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31" name="agenda-item-6">
            <a:extLst xmlns:a="http://schemas.openxmlformats.org/drawingml/2006/main">
              <a:ext uri="{FF2B5EF4-FFF2-40B4-BE49-F238E27FC236}">
                <a16:creationId xmlns:a16="http://schemas.microsoft.com/office/drawing/2014/main" id="{DB337222-A00C-457D-9583-A475C94D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7467600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Lean Canvas e proposta de valor</a:t>
            </a:r>
          </a:p>
        </p:txBody>
      </p:sp>
      <p:sp>
        <p:nvSpPr>
          <p:cNvPr id="32" name="agenda-line-6">
            <a:extLst xmlns:a="http://schemas.openxmlformats.org/drawingml/2006/main">
              <a:ext uri="{FF2B5EF4-FFF2-40B4-BE49-F238E27FC236}">
                <a16:creationId xmlns:a16="http://schemas.microsoft.com/office/drawing/2014/main" id="{0B9E7A6F-FFEE-4A7C-BEF9-33F3B22B7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8134350"/>
            <a:ext cx="561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F8B1F"/>
            </a:solidFill>
            <a:prstDash val="solid"/>
          </a:ln>
        </p:spPr>
      </p:sp>
      <p:sp>
        <p:nvSpPr>
          <p:cNvPr id="33" name="agenda-num-bg-7">
            <a:extLst xmlns:a="http://schemas.openxmlformats.org/drawingml/2006/main">
              <a:ext uri="{FF2B5EF4-FFF2-40B4-BE49-F238E27FC236}">
                <a16:creationId xmlns:a16="http://schemas.microsoft.com/office/drawing/2014/main" id="{1C43DD5A-3046-4FEB-81CA-19C0F0DC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58202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2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agenda-num-7">
            <a:extLst xmlns:a="http://schemas.openxmlformats.org/drawingml/2006/main">
              <a:ext uri="{FF2B5EF4-FFF2-40B4-BE49-F238E27FC236}">
                <a16:creationId xmlns:a16="http://schemas.microsoft.com/office/drawing/2014/main" id="{4E43E280-AF6B-4C97-B2B8-D055ED0C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8696325"/>
            <a:ext cx="514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35" name="agenda-item-7">
            <a:extLst xmlns:a="http://schemas.openxmlformats.org/drawingml/2006/main">
              <a:ext uri="{FF2B5EF4-FFF2-40B4-BE49-F238E27FC236}">
                <a16:creationId xmlns:a16="http://schemas.microsoft.com/office/drawing/2014/main" id="{E883CDF2-172A-43E1-B5A0-4DCD25F6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86010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Mercado e estimativas TAM, SAM e SOM</a:t>
            </a:r>
          </a:p>
        </p:txBody>
      </p:sp>
      <p:sp>
        <p:nvSpPr>
          <p:cNvPr id="36" name="agenda-footer">
            <a:extLst xmlns:a="http://schemas.openxmlformats.org/drawingml/2006/main">
              <a:ext uri="{FF2B5EF4-FFF2-40B4-BE49-F238E27FC236}">
                <a16:creationId xmlns:a16="http://schemas.microsoft.com/office/drawing/2014/main" id="{88D07449-67FD-4343-9738-278C0259C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966787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Qual é a Boa?  •  Startup Project One</a:t>
            </a:r>
          </a:p>
        </p:txBody>
      </p:sp>
    </p:spTree>
    <p:extLst>
      <p:ext uri="{BB962C8B-B14F-4D97-AF65-F5344CB8AC3E}">
        <p14:creationId xmlns:p14="http://schemas.microsoft.com/office/powerpoint/2010/main" val="732642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itle-3">
            <a:extLst xmlns:a="http://schemas.openxmlformats.org/drawingml/2006/main">
              <a:ext uri="{FF2B5EF4-FFF2-40B4-BE49-F238E27FC236}">
                <a16:creationId xmlns:a16="http://schemas.microsoft.com/office/drawing/2014/main" id="{D167227E-AB0F-44B7-828B-069C9A9F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Documentação inicial do projeto</a:t>
            </a:r>
          </a:p>
        </p:txBody>
      </p:sp>
      <p:sp>
        <p:nvSpPr>
          <p:cNvPr id="2" name="rule-3">
            <a:extLst xmlns:a="http://schemas.openxmlformats.org/drawingml/2006/main">
              <a:ext uri="{FF2B5EF4-FFF2-40B4-BE49-F238E27FC236}">
                <a16:creationId xmlns:a16="http://schemas.microsoft.com/office/drawing/2014/main" id="{B49D20E7-189E-41C3-A857-A598D14B3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A1FAA1A5-4DDA-4F13-90EC-3DC59BAE9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Introdução, cenário e viabilidade</a:t>
            </a:r>
          </a:p>
        </p:txBody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5FC5EA7D-3013-489B-93A2-E4B7A4293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7C82F53-DA88-44EA-B0EB-E427479E9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6" name="intro-main">
            <a:extLst xmlns:a="http://schemas.openxmlformats.org/drawingml/2006/main">
              <a:ext uri="{FF2B5EF4-FFF2-40B4-BE49-F238E27FC236}">
                <a16:creationId xmlns:a16="http://schemas.microsoft.com/office/drawing/2014/main" id="{DF312A04-666C-4C3D-B0D8-7BC36A5D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9525000" cy="6715125"/>
          </a:xfrm>
          <a:prstGeom xmlns:a="http://schemas.openxmlformats.org/drawingml/2006/main" prst="roundRect">
            <a:avLst>
              <a:gd name="adj" fmla="val 3972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DDE6FB"/>
            </a:solidFill>
            <a:prstDash val="solid"/>
          </a:ln>
        </p:spPr>
      </p:sp>
      <p:sp>
        <p:nvSpPr>
          <p:cNvPr id="7" name="intro-label">
            <a:extLst xmlns:a="http://schemas.openxmlformats.org/drawingml/2006/main">
              <a:ext uri="{FF2B5EF4-FFF2-40B4-BE49-F238E27FC236}">
                <a16:creationId xmlns:a16="http://schemas.microsoft.com/office/drawing/2014/main" id="{ED8854BB-1205-471B-86C5-4CA2C72E5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61937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TÍTULO DO PROJETO</a:t>
            </a:r>
          </a:p>
        </p:txBody>
      </p:sp>
      <p:sp>
        <p:nvSpPr>
          <p:cNvPr id="8" name="project-name">
            <a:extLst xmlns:a="http://schemas.openxmlformats.org/drawingml/2006/main">
              <a:ext uri="{FF2B5EF4-FFF2-40B4-BE49-F238E27FC236}">
                <a16:creationId xmlns:a16="http://schemas.microsoft.com/office/drawing/2014/main" id="{CE4A9A1D-9136-4CB8-B044-03E1864F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000375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39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Qual é a Boa?</a:t>
            </a:r>
          </a:p>
        </p:txBody>
      </p:sp>
      <p:sp>
        <p:nvSpPr>
          <p:cNvPr id="9" name="intro-context-title">
            <a:extLst xmlns:a="http://schemas.openxmlformats.org/drawingml/2006/main">
              <a:ext uri="{FF2B5EF4-FFF2-40B4-BE49-F238E27FC236}">
                <a16:creationId xmlns:a16="http://schemas.microsoft.com/office/drawing/2014/main" id="{976A55CE-4E5E-4CA2-8AFB-FA95086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005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Cenário</a:t>
            </a:r>
          </a:p>
        </p:txBody>
      </p:sp>
      <p:sp>
        <p:nvSpPr>
          <p:cNvPr id="10" name="intro-context">
            <a:extLst xmlns:a="http://schemas.openxmlformats.org/drawingml/2006/main">
              <a:ext uri="{FF2B5EF4-FFF2-40B4-BE49-F238E27FC236}">
                <a16:creationId xmlns:a16="http://schemas.microsoft.com/office/drawing/2014/main" id="{A905A70A-DDC6-4A4E-967E-9F305BE4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95800"/>
            <a:ext cx="8286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Informações sobre eventos, bares, restaurantes, festas, cafés e atividades culturais ficam espalhadas em redes sociais, grupos de mensagens e páginas de estabelecimentos. Isso torna a escolha demorada e aumenta o risco de encontrar preços, horários ou atrações desatualizados.</a:t>
            </a:r>
          </a:p>
        </p:txBody>
      </p:sp>
      <p:sp>
        <p:nvSpPr>
          <p:cNvPr id="11" name="intro-solution-title">
            <a:extLst xmlns:a="http://schemas.openxmlformats.org/drawingml/2006/main">
              <a:ext uri="{FF2B5EF4-FFF2-40B4-BE49-F238E27FC236}">
                <a16:creationId xmlns:a16="http://schemas.microsoft.com/office/drawing/2014/main" id="{9D915ABB-4DE7-421C-B409-AA7726DE5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286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Solução e viabilidade</a:t>
            </a:r>
          </a:p>
        </p:txBody>
      </p:sp>
      <p:sp>
        <p:nvSpPr>
          <p:cNvPr id="12" name="intro-solution">
            <a:extLst xmlns:a="http://schemas.openxmlformats.org/drawingml/2006/main">
              <a:ext uri="{FF2B5EF4-FFF2-40B4-BE49-F238E27FC236}">
                <a16:creationId xmlns:a16="http://schemas.microsoft.com/office/drawing/2014/main" id="{D2AF4498-2BEE-46F9-9FBF-1D2D3628D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781800"/>
            <a:ext cx="8286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A plataforma reunirá opções próximas em mapa e lista, com filtros por distância, preço, horário e interesse. O MVP web será construído de forma modular, com API e banco compartilháveis com o futuro aplicativo móvel.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62297d47764286"/>
          <a:srcRect xmlns:a="http://schemas.openxmlformats.org/drawingml/2006/main" l="15665" t="0" r="1566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953750" y="2190750"/>
            <a:ext cx="6477000" cy="6715125"/>
          </a:xfrm>
          <a:prstGeom xmlns:a="http://schemas.openxmlformats.org/drawingml/2006/main" prst="roundRect">
            <a:avLst>
              <a:gd name="adj" fmla="val 4412"/>
            </a:avLst>
          </a:prstGeom>
        </p:spPr>
      </p:pic>
    </p:spTree>
    <p:extLst>
      <p:ext uri="{BB962C8B-B14F-4D97-AF65-F5344CB8AC3E}">
        <p14:creationId xmlns:p14="http://schemas.microsoft.com/office/powerpoint/2010/main" val="37005910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itle-4">
            <a:extLst xmlns:a="http://schemas.openxmlformats.org/drawingml/2006/main">
              <a:ext uri="{FF2B5EF4-FFF2-40B4-BE49-F238E27FC236}">
                <a16:creationId xmlns:a16="http://schemas.microsoft.com/office/drawing/2014/main" id="{F133B67F-9838-4ECD-A199-DE38858D3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Objetivos do projeto</a:t>
            </a:r>
          </a:p>
        </p:txBody>
      </p:sp>
      <p:sp>
        <p:nvSpPr>
          <p:cNvPr id="2" name="rule-4">
            <a:extLst xmlns:a="http://schemas.openxmlformats.org/drawingml/2006/main">
              <a:ext uri="{FF2B5EF4-FFF2-40B4-BE49-F238E27FC236}">
                <a16:creationId xmlns:a16="http://schemas.microsoft.com/office/drawing/2014/main" id="{98A18F4C-CF3F-48B5-9166-CE6530C29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9704CA69-B679-4B88-8B2B-B8D91F94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Direcionamento do MVP web</a:t>
            </a:r>
          </a:p>
        </p:txBody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44ACA47F-E7BA-45E4-BF9E-B0A5190A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4AB7E858-90A7-47F7-BF05-F3E269ACE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6" name="general-objective">
            <a:extLst xmlns:a="http://schemas.openxmlformats.org/drawingml/2006/main">
              <a:ext uri="{FF2B5EF4-FFF2-40B4-BE49-F238E27FC236}">
                <a16:creationId xmlns:a16="http://schemas.microsoft.com/office/drawing/2014/main" id="{FD133489-B001-4AFD-AA9E-1C7A1799F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10287000" cy="1952625"/>
          </a:xfrm>
          <a:prstGeom xmlns:a="http://schemas.openxmlformats.org/drawingml/2006/main" prst="roundRect">
            <a:avLst>
              <a:gd name="adj" fmla="val 13659"/>
            </a:avLst>
          </a:prstGeom>
          <a:solidFill xmlns:a="http://schemas.openxmlformats.org/drawingml/2006/main">
            <a:srgbClr val="2F3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general-label">
            <a:extLst xmlns:a="http://schemas.openxmlformats.org/drawingml/2006/main">
              <a:ext uri="{FF2B5EF4-FFF2-40B4-BE49-F238E27FC236}">
                <a16:creationId xmlns:a16="http://schemas.microsoft.com/office/drawing/2014/main" id="{3A79D414-E511-4B22-A6E2-D03A97FDF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2887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AFC5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AFC5FF"/>
                </a:solidFill>
                <a:latin typeface="Nimbus Sans"/>
                <a:ea typeface="Nimbus Sans"/>
                <a:cs typeface="Nimbus Sans"/>
              </a:rPr>
              <a:t>OBJETIVO GERAL</a:t>
            </a:r>
          </a:p>
        </p:txBody>
      </p:sp>
      <p:sp>
        <p:nvSpPr>
          <p:cNvPr id="8" name="general-text">
            <a:extLst xmlns:a="http://schemas.openxmlformats.org/drawingml/2006/main">
              <a:ext uri="{FF2B5EF4-FFF2-40B4-BE49-F238E27FC236}">
                <a16:creationId xmlns:a16="http://schemas.microsoft.com/office/drawing/2014/main" id="{69A26D04-2E81-473C-92E9-628D744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9051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Desenvolver e validar uma plataforma web que facilite a descoberta de experiências locais e conecte usuários a estabelecimentos e organizadores.</a:t>
            </a:r>
          </a:p>
        </p:txBody>
      </p:sp>
      <p:sp>
        <p:nvSpPr>
          <p:cNvPr id="9" name="obj-card-0">
            <a:extLst xmlns:a="http://schemas.openxmlformats.org/drawingml/2006/main">
              <a:ext uri="{FF2B5EF4-FFF2-40B4-BE49-F238E27FC236}">
                <a16:creationId xmlns:a16="http://schemas.microsoft.com/office/drawing/2014/main" id="{F065A673-FF65-4C70-906B-8316513A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76750"/>
            <a:ext cx="50482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obj-num-bg-0">
            <a:extLst xmlns:a="http://schemas.openxmlformats.org/drawingml/2006/main">
              <a:ext uri="{FF2B5EF4-FFF2-40B4-BE49-F238E27FC236}">
                <a16:creationId xmlns:a16="http://schemas.microsoft.com/office/drawing/2014/main" id="{B5AC0465-F3CA-47E5-AD1B-3F076B817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1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obj-num-0">
            <a:extLst xmlns:a="http://schemas.openxmlformats.org/drawingml/2006/main">
              <a:ext uri="{FF2B5EF4-FFF2-40B4-BE49-F238E27FC236}">
                <a16:creationId xmlns:a16="http://schemas.microsoft.com/office/drawing/2014/main" id="{9145CC53-D0FE-4E46-965E-E8E5C6582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530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01</a:t>
            </a:r>
          </a:p>
        </p:txBody>
      </p:sp>
      <p:sp>
        <p:nvSpPr>
          <p:cNvPr id="12" name="obj-head-0">
            <a:extLst xmlns:a="http://schemas.openxmlformats.org/drawingml/2006/main">
              <a:ext uri="{FF2B5EF4-FFF2-40B4-BE49-F238E27FC236}">
                <a16:creationId xmlns:a16="http://schemas.microsoft.com/office/drawing/2014/main" id="{5C1101BC-48BB-4BE0-9415-622F6C358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705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Descoberta local</a:t>
            </a:r>
          </a:p>
        </p:txBody>
      </p:sp>
      <p:sp>
        <p:nvSpPr>
          <p:cNvPr id="13" name="obj-body-0">
            <a:extLst xmlns:a="http://schemas.openxmlformats.org/drawingml/2006/main">
              <a:ext uri="{FF2B5EF4-FFF2-40B4-BE49-F238E27FC236}">
                <a16:creationId xmlns:a16="http://schemas.microsoft.com/office/drawing/2014/main" id="{3AD25E8D-2F27-4889-95DB-F3370EBD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95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Exibir opções próximas em mapa e lista.</a:t>
            </a:r>
          </a:p>
        </p:txBody>
      </p:sp>
      <p:sp>
        <p:nvSpPr>
          <p:cNvPr id="14" name="obj-card-1">
            <a:extLst xmlns:a="http://schemas.openxmlformats.org/drawingml/2006/main">
              <a:ext uri="{FF2B5EF4-FFF2-40B4-BE49-F238E27FC236}">
                <a16:creationId xmlns:a16="http://schemas.microsoft.com/office/drawing/2014/main" id="{789E5A10-199D-4B57-9A03-1AB43BE78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76750"/>
            <a:ext cx="50482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obj-num-bg-1">
            <a:extLst xmlns:a="http://schemas.openxmlformats.org/drawingml/2006/main">
              <a:ext uri="{FF2B5EF4-FFF2-40B4-BE49-F238E27FC236}">
                <a16:creationId xmlns:a16="http://schemas.microsoft.com/office/drawing/2014/main" id="{C4136F78-3210-4436-AB5A-19BEAE1E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9107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bj-num-1">
            <a:extLst xmlns:a="http://schemas.openxmlformats.org/drawingml/2006/main">
              <a:ext uri="{FF2B5EF4-FFF2-40B4-BE49-F238E27FC236}">
                <a16:creationId xmlns:a16="http://schemas.microsoft.com/office/drawing/2014/main" id="{5BD438F0-999B-4E81-B364-2DBBEE763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95300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02</a:t>
            </a:r>
          </a:p>
        </p:txBody>
      </p:sp>
      <p:sp>
        <p:nvSpPr>
          <p:cNvPr id="17" name="obj-head-1">
            <a:extLst xmlns:a="http://schemas.openxmlformats.org/drawingml/2006/main">
              <a:ext uri="{FF2B5EF4-FFF2-40B4-BE49-F238E27FC236}">
                <a16:creationId xmlns:a16="http://schemas.microsoft.com/office/drawing/2014/main" id="{1FB3657E-DB15-4A07-BF71-83BDC7334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70535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Filtros úteis</a:t>
            </a:r>
          </a:p>
        </p:txBody>
      </p:sp>
      <p:sp>
        <p:nvSpPr>
          <p:cNvPr id="18" name="obj-body-1">
            <a:extLst xmlns:a="http://schemas.openxmlformats.org/drawingml/2006/main">
              <a:ext uri="{FF2B5EF4-FFF2-40B4-BE49-F238E27FC236}">
                <a16:creationId xmlns:a16="http://schemas.microsoft.com/office/drawing/2014/main" id="{F66FC053-8543-4FB4-A83C-E68AAFF54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5095875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Permitir busca por preço, distância, horário e categoria.</a:t>
            </a:r>
          </a:p>
        </p:txBody>
      </p:sp>
      <p:sp>
        <p:nvSpPr>
          <p:cNvPr id="19" name="obj-card-2">
            <a:extLst xmlns:a="http://schemas.openxmlformats.org/drawingml/2006/main">
              <a:ext uri="{FF2B5EF4-FFF2-40B4-BE49-F238E27FC236}">
                <a16:creationId xmlns:a16="http://schemas.microsoft.com/office/drawing/2014/main" id="{2ABEC1A1-ED45-4C9F-8FA3-23292882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53125"/>
            <a:ext cx="50482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obj-num-bg-2">
            <a:extLst xmlns:a="http://schemas.openxmlformats.org/drawingml/2006/main">
              <a:ext uri="{FF2B5EF4-FFF2-40B4-BE49-F238E27FC236}">
                <a16:creationId xmlns:a16="http://schemas.microsoft.com/office/drawing/2014/main" id="{8F0B880E-EC2B-453F-85B9-4ABA7FF9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26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obj-num-2">
            <a:extLst xmlns:a="http://schemas.openxmlformats.org/drawingml/2006/main">
              <a:ext uri="{FF2B5EF4-FFF2-40B4-BE49-F238E27FC236}">
                <a16:creationId xmlns:a16="http://schemas.microsoft.com/office/drawing/2014/main" id="{CF1C6AF7-144B-4E01-8D06-54D497F6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6429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03</a:t>
            </a:r>
          </a:p>
        </p:txBody>
      </p:sp>
      <p:sp>
        <p:nvSpPr>
          <p:cNvPr id="22" name="obj-head-2">
            <a:extLst xmlns:a="http://schemas.openxmlformats.org/drawingml/2006/main">
              <a:ext uri="{FF2B5EF4-FFF2-40B4-BE49-F238E27FC236}">
                <a16:creationId xmlns:a16="http://schemas.microsoft.com/office/drawing/2014/main" id="{440EE343-38D6-4E4F-ABB3-CAC75BAB1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1817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Área de parceiros</a:t>
            </a:r>
          </a:p>
        </p:txBody>
      </p:sp>
      <p:sp>
        <p:nvSpPr>
          <p:cNvPr id="23" name="obj-body-2">
            <a:extLst xmlns:a="http://schemas.openxmlformats.org/drawingml/2006/main">
              <a:ext uri="{FF2B5EF4-FFF2-40B4-BE49-F238E27FC236}">
                <a16:creationId xmlns:a16="http://schemas.microsoft.com/office/drawing/2014/main" id="{0C6FA6DA-847F-49C3-B4E8-61BFC0003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6572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Cadastrar eventos, promoções e informações atualizadas.</a:t>
            </a:r>
          </a:p>
        </p:txBody>
      </p:sp>
      <p:sp>
        <p:nvSpPr>
          <p:cNvPr id="24" name="obj-card-3">
            <a:extLst xmlns:a="http://schemas.openxmlformats.org/drawingml/2006/main">
              <a:ext uri="{FF2B5EF4-FFF2-40B4-BE49-F238E27FC236}">
                <a16:creationId xmlns:a16="http://schemas.microsoft.com/office/drawing/2014/main" id="{8B07F7FC-F8F0-4598-A32B-414C17526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953125"/>
            <a:ext cx="504825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obj-num-bg-3">
            <a:extLst xmlns:a="http://schemas.openxmlformats.org/drawingml/2006/main">
              <a:ext uri="{FF2B5EF4-FFF2-40B4-BE49-F238E27FC236}">
                <a16:creationId xmlns:a16="http://schemas.microsoft.com/office/drawing/2014/main" id="{C933109B-7B9A-40D9-873E-9E61EF8C3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2674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obj-num-3">
            <a:extLst xmlns:a="http://schemas.openxmlformats.org/drawingml/2006/main">
              <a:ext uri="{FF2B5EF4-FFF2-40B4-BE49-F238E27FC236}">
                <a16:creationId xmlns:a16="http://schemas.microsoft.com/office/drawing/2014/main" id="{9CC24C1E-AA5A-4C65-BD22-ADC15FA4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429375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04</a:t>
            </a:r>
          </a:p>
        </p:txBody>
      </p:sp>
      <p:sp>
        <p:nvSpPr>
          <p:cNvPr id="27" name="obj-head-3">
            <a:extLst xmlns:a="http://schemas.openxmlformats.org/drawingml/2006/main">
              <a:ext uri="{FF2B5EF4-FFF2-40B4-BE49-F238E27FC236}">
                <a16:creationId xmlns:a16="http://schemas.microsoft.com/office/drawing/2014/main" id="{C01C98C8-D7D8-4DED-8EFB-413D122A5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181725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Engajamento</a:t>
            </a:r>
          </a:p>
        </p:txBody>
      </p:sp>
      <p:sp>
        <p:nvSpPr>
          <p:cNvPr id="28" name="obj-body-3">
            <a:extLst xmlns:a="http://schemas.openxmlformats.org/drawingml/2006/main">
              <a:ext uri="{FF2B5EF4-FFF2-40B4-BE49-F238E27FC236}">
                <a16:creationId xmlns:a16="http://schemas.microsoft.com/office/drawing/2014/main" id="{3C7CCF0F-B4D5-4668-8020-A3914808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572250"/>
            <a:ext cx="371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Testar favoritos, compartilhamento, check-ins e recompensas.</a:t>
            </a:r>
          </a:p>
        </p:txBody>
      </p:sp>
      <p:sp>
        <p:nvSpPr>
          <p:cNvPr id="29" name="obj-card-4">
            <a:extLst xmlns:a="http://schemas.openxmlformats.org/drawingml/2006/main">
              <a:ext uri="{FF2B5EF4-FFF2-40B4-BE49-F238E27FC236}">
                <a16:creationId xmlns:a16="http://schemas.microsoft.com/office/drawing/2014/main" id="{677E68B1-60B7-4348-8548-243F7B687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429500"/>
            <a:ext cx="10287000" cy="12382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obj-num-bg-4">
            <a:extLst xmlns:a="http://schemas.openxmlformats.org/drawingml/2006/main">
              <a:ext uri="{FF2B5EF4-FFF2-40B4-BE49-F238E27FC236}">
                <a16:creationId xmlns:a16="http://schemas.microsoft.com/office/drawing/2014/main" id="{B2C05CFB-7045-4E61-8640-2313590F0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7438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obj-num-4">
            <a:extLst xmlns:a="http://schemas.openxmlformats.org/drawingml/2006/main">
              <a:ext uri="{FF2B5EF4-FFF2-40B4-BE49-F238E27FC236}">
                <a16:creationId xmlns:a16="http://schemas.microsoft.com/office/drawing/2014/main" id="{47480C02-512B-44F6-80B9-8D1A7F4F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7905750"/>
            <a:ext cx="609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4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32" name="obj-head-4">
            <a:extLst xmlns:a="http://schemas.openxmlformats.org/drawingml/2006/main">
              <a:ext uri="{FF2B5EF4-FFF2-40B4-BE49-F238E27FC236}">
                <a16:creationId xmlns:a16="http://schemas.microsoft.com/office/drawing/2014/main" id="{A871661D-A100-4A9B-A4FA-6DF42A499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7658100"/>
            <a:ext cx="895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Validação</a:t>
            </a:r>
          </a:p>
        </p:txBody>
      </p:sp>
      <p:sp>
        <p:nvSpPr>
          <p:cNvPr id="33" name="obj-body-4">
            <a:extLst xmlns:a="http://schemas.openxmlformats.org/drawingml/2006/main">
              <a:ext uri="{FF2B5EF4-FFF2-40B4-BE49-F238E27FC236}">
                <a16:creationId xmlns:a16="http://schemas.microsoft.com/office/drawing/2014/main" id="{25997C49-AE74-499B-8373-F4DCC3805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8048625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Avaliar usabilidade, interesse do público e potencial de negócio.</a:t>
            </a:r>
          </a:p>
        </p:txBody>
      </p:sp>
      <p:sp>
        <p:nvSpPr>
          <p:cNvPr id="34" name="target-outer">
            <a:extLst xmlns:a="http://schemas.openxmlformats.org/drawingml/2006/main">
              <a:ext uri="{FF2B5EF4-FFF2-40B4-BE49-F238E27FC236}">
                <a16:creationId xmlns:a16="http://schemas.microsoft.com/office/drawing/2014/main" id="{0DCEC6F2-49FA-40C5-BD63-932882BB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2714625"/>
            <a:ext cx="4000500" cy="400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target-mid">
            <a:extLst xmlns:a="http://schemas.openxmlformats.org/drawingml/2006/main">
              <a:ext uri="{FF2B5EF4-FFF2-40B4-BE49-F238E27FC236}">
                <a16:creationId xmlns:a16="http://schemas.microsoft.com/office/drawing/2014/main" id="{9642E053-1335-4C2C-A1BF-85340E1DE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3381375"/>
            <a:ext cx="2667000" cy="2667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EB1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target-inner">
            <a:extLst xmlns:a="http://schemas.openxmlformats.org/drawingml/2006/main">
              <a:ext uri="{FF2B5EF4-FFF2-40B4-BE49-F238E27FC236}">
                <a16:creationId xmlns:a16="http://schemas.microsoft.com/office/drawing/2014/main" id="{979D0DE8-4CEC-46E3-8EA9-DFE2E0C49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048125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arget-mvp">
            <a:extLst xmlns:a="http://schemas.openxmlformats.org/drawingml/2006/main">
              <a:ext uri="{FF2B5EF4-FFF2-40B4-BE49-F238E27FC236}">
                <a16:creationId xmlns:a16="http://schemas.microsoft.com/office/drawing/2014/main" id="{7ABB2D91-D2CB-4BEB-9E89-4747CE311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451485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MVP</a:t>
            </a:r>
          </a:p>
        </p:txBody>
      </p:sp>
      <p:sp>
        <p:nvSpPr>
          <p:cNvPr id="38" name="target-caption">
            <a:extLst xmlns:a="http://schemas.openxmlformats.org/drawingml/2006/main">
              <a:ext uri="{FF2B5EF4-FFF2-40B4-BE49-F238E27FC236}">
                <a16:creationId xmlns:a16="http://schemas.microsoft.com/office/drawing/2014/main" id="{7F8EBC3F-8C04-43C6-9030-CB662EE65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7143750"/>
            <a:ext cx="4667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8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Um produto simples, testável e integrado ao futuro aplicativo</a:t>
            </a:r>
          </a:p>
        </p:txBody>
      </p:sp>
    </p:spTree>
    <p:extLst>
      <p:ext uri="{BB962C8B-B14F-4D97-AF65-F5344CB8AC3E}">
        <p14:creationId xmlns:p14="http://schemas.microsoft.com/office/powerpoint/2010/main" val="142463201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itle-5">
            <a:extLst xmlns:a="http://schemas.openxmlformats.org/drawingml/2006/main">
              <a:ext uri="{FF2B5EF4-FFF2-40B4-BE49-F238E27FC236}">
                <a16:creationId xmlns:a16="http://schemas.microsoft.com/office/drawing/2014/main" id="{E15D678F-15A3-4314-9DE6-56736EDBB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Justificativa e orçamento</a:t>
            </a:r>
          </a:p>
        </p:txBody>
      </p:sp>
      <p:sp>
        <p:nvSpPr>
          <p:cNvPr id="2" name="rule-5">
            <a:extLst xmlns:a="http://schemas.openxmlformats.org/drawingml/2006/main">
              <a:ext uri="{FF2B5EF4-FFF2-40B4-BE49-F238E27FC236}">
                <a16:creationId xmlns:a16="http://schemas.microsoft.com/office/drawing/2014/main" id="{D2711703-AA9B-4F9E-95AB-E01AEC99E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D6A43D5F-FEFA-489A-A1D6-8E0CB570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Importância, benefícios e custo inicial</a:t>
            </a:r>
          </a:p>
        </p:txBody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83F9301A-4B4B-4CC2-BADA-C14907E6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CCF87DCF-7C90-46F9-B689-454F4AFC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05</a:t>
            </a:r>
          </a:p>
        </p:txBody>
      </p:sp>
      <p:sp>
        <p:nvSpPr>
          <p:cNvPr id="6" name="why-title">
            <a:extLst xmlns:a="http://schemas.openxmlformats.org/drawingml/2006/main">
              <a:ext uri="{FF2B5EF4-FFF2-40B4-BE49-F238E27FC236}">
                <a16:creationId xmlns:a16="http://schemas.microsoft.com/office/drawing/2014/main" id="{3A62955F-445B-4BDB-B6BB-475C422DD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8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Por que o Qual é a Boa?</a:t>
            </a:r>
          </a:p>
        </p:txBody>
      </p:sp>
      <p:sp>
        <p:nvSpPr>
          <p:cNvPr id="7" name="reason-dot-0">
            <a:extLst xmlns:a="http://schemas.openxmlformats.org/drawingml/2006/main">
              <a:ext uri="{FF2B5EF4-FFF2-40B4-BE49-F238E27FC236}">
                <a16:creationId xmlns:a16="http://schemas.microsoft.com/office/drawing/2014/main" id="{C647F46A-8A2E-4739-9905-5B733A73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623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eason-title-0">
            <a:extLst xmlns:a="http://schemas.openxmlformats.org/drawingml/2006/main">
              <a:ext uri="{FF2B5EF4-FFF2-40B4-BE49-F238E27FC236}">
                <a16:creationId xmlns:a16="http://schemas.microsoft.com/office/drawing/2014/main" id="{4669C8E7-D083-42BF-A5FB-A7612D1C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0480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Para o usuário</a:t>
            </a:r>
          </a:p>
        </p:txBody>
      </p:sp>
      <p:sp>
        <p:nvSpPr>
          <p:cNvPr id="9" name="reason-body-0">
            <a:extLst xmlns:a="http://schemas.openxmlformats.org/drawingml/2006/main">
              <a:ext uri="{FF2B5EF4-FFF2-40B4-BE49-F238E27FC236}">
                <a16:creationId xmlns:a16="http://schemas.microsoft.com/office/drawing/2014/main" id="{19E36CF5-1F5A-485B-A805-F759B5BAC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4805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Reduz o tempo de procura, facilita a comparação e melhora a confiança na decisão.</a:t>
            </a:r>
          </a:p>
        </p:txBody>
      </p:sp>
      <p:sp>
        <p:nvSpPr>
          <p:cNvPr id="10" name="reason-dot-1">
            <a:extLst xmlns:a="http://schemas.openxmlformats.org/drawingml/2006/main">
              <a:ext uri="{FF2B5EF4-FFF2-40B4-BE49-F238E27FC236}">
                <a16:creationId xmlns:a16="http://schemas.microsoft.com/office/drawing/2014/main" id="{E3F0AE1B-7925-4D9F-8A83-07CD871C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4342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ason-title-1">
            <a:extLst xmlns:a="http://schemas.openxmlformats.org/drawingml/2006/main">
              <a:ext uri="{FF2B5EF4-FFF2-40B4-BE49-F238E27FC236}">
                <a16:creationId xmlns:a16="http://schemas.microsoft.com/office/drawing/2014/main" id="{BB35818B-0A45-4338-8D29-37B87215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42912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Para os parceiros</a:t>
            </a:r>
          </a:p>
        </p:txBody>
      </p:sp>
      <p:sp>
        <p:nvSpPr>
          <p:cNvPr id="12" name="reason-body-1">
            <a:extLst xmlns:a="http://schemas.openxmlformats.org/drawingml/2006/main">
              <a:ext uri="{FF2B5EF4-FFF2-40B4-BE49-F238E27FC236}">
                <a16:creationId xmlns:a16="http://schemas.microsoft.com/office/drawing/2014/main" id="{7878C742-EE70-4531-8764-0804BC7D5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2917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Cria um canal direto para divulgar eventos, promoções e informações atualizadas.</a:t>
            </a:r>
          </a:p>
        </p:txBody>
      </p:sp>
      <p:sp>
        <p:nvSpPr>
          <p:cNvPr id="13" name="reason-dot-2">
            <a:extLst xmlns:a="http://schemas.openxmlformats.org/drawingml/2006/main">
              <a:ext uri="{FF2B5EF4-FFF2-40B4-BE49-F238E27FC236}">
                <a16:creationId xmlns:a16="http://schemas.microsoft.com/office/drawing/2014/main" id="{D1275F6A-46C1-48A8-9595-D39921E23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24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ason-title-2">
            <a:extLst xmlns:a="http://schemas.openxmlformats.org/drawingml/2006/main">
              <a:ext uri="{FF2B5EF4-FFF2-40B4-BE49-F238E27FC236}">
                <a16:creationId xmlns:a16="http://schemas.microsoft.com/office/drawing/2014/main" id="{673588F5-DCAB-4699-81C3-D100041A5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102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Para a região</a:t>
            </a:r>
          </a:p>
        </p:txBody>
      </p:sp>
      <p:sp>
        <p:nvSpPr>
          <p:cNvPr id="15" name="reason-body-2">
            <a:extLst xmlns:a="http://schemas.openxmlformats.org/drawingml/2006/main">
              <a:ext uri="{FF2B5EF4-FFF2-40B4-BE49-F238E27FC236}">
                <a16:creationId xmlns:a16="http://schemas.microsoft.com/office/drawing/2014/main" id="{8B06D97C-33C4-4E2F-8DAD-F5004A06F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6210300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Favorece a economia local, a cultura e a descoberta de pequenos estabelecimentos.</a:t>
            </a:r>
          </a:p>
        </p:txBody>
      </p:sp>
      <p:sp>
        <p:nvSpPr>
          <p:cNvPr id="16" name="reason-dot-3">
            <a:extLst xmlns:a="http://schemas.openxmlformats.org/drawingml/2006/main">
              <a:ext uri="{FF2B5EF4-FFF2-40B4-BE49-F238E27FC236}">
                <a16:creationId xmlns:a16="http://schemas.microsoft.com/office/drawing/2014/main" id="{DBAEAF1D-46B9-4C76-A583-7AD935766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7305675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ason-title-3">
            <a:extLst xmlns:a="http://schemas.openxmlformats.org/drawingml/2006/main">
              <a:ext uri="{FF2B5EF4-FFF2-40B4-BE49-F238E27FC236}">
                <a16:creationId xmlns:a16="http://schemas.microsoft.com/office/drawing/2014/main" id="{96F28394-6A8B-486C-85FD-840BC6C19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191375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Para o projeto</a:t>
            </a:r>
          </a:p>
        </p:txBody>
      </p:sp>
      <p:sp>
        <p:nvSpPr>
          <p:cNvPr id="18" name="reason-body-3">
            <a:extLst xmlns:a="http://schemas.openxmlformats.org/drawingml/2006/main">
              <a:ext uri="{FF2B5EF4-FFF2-40B4-BE49-F238E27FC236}">
                <a16:creationId xmlns:a16="http://schemas.microsoft.com/office/drawing/2014/main" id="{D2B58DF3-C431-4C75-90D7-809367734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591425"/>
            <a:ext cx="7143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Possui escopo modular, tecnologias acessíveis e possibilidade real de evolução para aplicativo.</a:t>
            </a:r>
          </a:p>
        </p:txBody>
      </p:sp>
      <p:sp>
        <p:nvSpPr>
          <p:cNvPr id="19" name="budget-panel">
            <a:extLst xmlns:a="http://schemas.openxmlformats.org/drawingml/2006/main">
              <a:ext uri="{FF2B5EF4-FFF2-40B4-BE49-F238E27FC236}">
                <a16:creationId xmlns:a16="http://schemas.microsoft.com/office/drawing/2014/main" id="{DB42DDB8-C453-4BB5-A33E-310ED4DD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95500"/>
            <a:ext cx="7524750" cy="68580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6DCCA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budget-title">
            <a:extLst xmlns:a="http://schemas.openxmlformats.org/drawingml/2006/main">
              <a:ext uri="{FF2B5EF4-FFF2-40B4-BE49-F238E27FC236}">
                <a16:creationId xmlns:a16="http://schemas.microsoft.com/office/drawing/2014/main" id="{0FA264A6-8B60-4018-BB04-1F5A32A1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628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Orçamento inicial estimado</a:t>
            </a:r>
          </a:p>
        </p:txBody>
      </p:sp>
      <p:sp>
        <p:nvSpPr>
          <p:cNvPr id="21" name="budget-sub">
            <a:extLst xmlns:a="http://schemas.openxmlformats.org/drawingml/2006/main">
              <a:ext uri="{FF2B5EF4-FFF2-40B4-BE49-F238E27FC236}">
                <a16:creationId xmlns:a16="http://schemas.microsoft.com/office/drawing/2014/main" id="{2630EDAE-5984-45FD-A05E-85807CC39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67050"/>
            <a:ext cx="628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Prioridade para planos gratuitos durante o desenvolvimento acadêmico</a:t>
            </a:r>
          </a:p>
        </p:txBody>
      </p:sp>
      <p:sp>
        <p:nvSpPr>
          <p:cNvPr id="22" name="budget-item-0">
            <a:extLst xmlns:a="http://schemas.openxmlformats.org/drawingml/2006/main">
              <a:ext uri="{FF2B5EF4-FFF2-40B4-BE49-F238E27FC236}">
                <a16:creationId xmlns:a16="http://schemas.microsoft.com/office/drawing/2014/main" id="{20B68A09-E711-425E-B4DB-162F6E518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0005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Domínio anual</a:t>
            </a:r>
          </a:p>
        </p:txBody>
      </p:sp>
      <p:sp>
        <p:nvSpPr>
          <p:cNvPr id="23" name="budget-value-0">
            <a:extLst xmlns:a="http://schemas.openxmlformats.org/drawingml/2006/main">
              <a:ext uri="{FF2B5EF4-FFF2-40B4-BE49-F238E27FC236}">
                <a16:creationId xmlns:a16="http://schemas.microsoft.com/office/drawing/2014/main" id="{F3FC5C87-B14E-4DA5-9313-CBD8D844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4000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R$ 50</a:t>
            </a:r>
          </a:p>
        </p:txBody>
      </p:sp>
      <p:sp>
        <p:nvSpPr>
          <p:cNvPr id="24" name="budget-line-0">
            <a:extLst xmlns:a="http://schemas.openxmlformats.org/drawingml/2006/main">
              <a:ext uri="{FF2B5EF4-FFF2-40B4-BE49-F238E27FC236}">
                <a16:creationId xmlns:a16="http://schemas.microsoft.com/office/drawing/2014/main" id="{6F57CCF0-8FB3-4921-B639-A1393A47E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4767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E3EC"/>
            </a:solidFill>
            <a:prstDash val="solid"/>
          </a:ln>
        </p:spPr>
      </p:sp>
      <p:sp>
        <p:nvSpPr>
          <p:cNvPr id="25" name="budget-item-1">
            <a:extLst xmlns:a="http://schemas.openxmlformats.org/drawingml/2006/main">
              <a:ext uri="{FF2B5EF4-FFF2-40B4-BE49-F238E27FC236}">
                <a16:creationId xmlns:a16="http://schemas.microsoft.com/office/drawing/2014/main" id="{129E2A0F-DE86-4E42-AC94-15F7DE46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8387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Hospedagem e banco</a:t>
            </a:r>
          </a:p>
        </p:txBody>
      </p:sp>
      <p:sp>
        <p:nvSpPr>
          <p:cNvPr id="26" name="budget-value-1">
            <a:extLst xmlns:a="http://schemas.openxmlformats.org/drawingml/2006/main">
              <a:ext uri="{FF2B5EF4-FFF2-40B4-BE49-F238E27FC236}">
                <a16:creationId xmlns:a16="http://schemas.microsoft.com/office/drawing/2014/main" id="{16C26C26-0E79-491A-B8F8-70D840DF1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48387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R$ 0 a R$ 200</a:t>
            </a:r>
          </a:p>
        </p:txBody>
      </p:sp>
      <p:sp>
        <p:nvSpPr>
          <p:cNvPr id="27" name="budget-line-1">
            <a:extLst xmlns:a="http://schemas.openxmlformats.org/drawingml/2006/main">
              <a:ext uri="{FF2B5EF4-FFF2-40B4-BE49-F238E27FC236}">
                <a16:creationId xmlns:a16="http://schemas.microsoft.com/office/drawing/2014/main" id="{8FB2F433-9984-49E4-8330-1774A68F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3149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E3EC"/>
            </a:solidFill>
            <a:prstDash val="solid"/>
          </a:ln>
        </p:spPr>
      </p:sp>
      <p:sp>
        <p:nvSpPr>
          <p:cNvPr id="28" name="budget-item-2">
            <a:extLst xmlns:a="http://schemas.openxmlformats.org/drawingml/2006/main">
              <a:ext uri="{FF2B5EF4-FFF2-40B4-BE49-F238E27FC236}">
                <a16:creationId xmlns:a16="http://schemas.microsoft.com/office/drawing/2014/main" id="{73EA9969-3212-48E0-9722-F31FE9EA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6769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Serviço de mapas e APIs</a:t>
            </a:r>
          </a:p>
        </p:txBody>
      </p:sp>
      <p:sp>
        <p:nvSpPr>
          <p:cNvPr id="29" name="budget-value-2">
            <a:extLst xmlns:a="http://schemas.openxmlformats.org/drawingml/2006/main">
              <a:ext uri="{FF2B5EF4-FFF2-40B4-BE49-F238E27FC236}">
                <a16:creationId xmlns:a16="http://schemas.microsoft.com/office/drawing/2014/main" id="{5AA221FA-1195-4FFB-8E8B-B2DD61BFF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567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R$ 0 a R$ 200</a:t>
            </a:r>
          </a:p>
        </p:txBody>
      </p:sp>
      <p:sp>
        <p:nvSpPr>
          <p:cNvPr id="30" name="budget-line-2">
            <a:extLst xmlns:a="http://schemas.openxmlformats.org/drawingml/2006/main">
              <a:ext uri="{FF2B5EF4-FFF2-40B4-BE49-F238E27FC236}">
                <a16:creationId xmlns:a16="http://schemas.microsoft.com/office/drawing/2014/main" id="{0440A85A-4093-44CF-AB39-B0ED23A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1531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E3EC"/>
            </a:solidFill>
            <a:prstDash val="solid"/>
          </a:ln>
        </p:spPr>
      </p:sp>
      <p:sp>
        <p:nvSpPr>
          <p:cNvPr id="31" name="budget-item-3">
            <a:extLst xmlns:a="http://schemas.openxmlformats.org/drawingml/2006/main">
              <a:ext uri="{FF2B5EF4-FFF2-40B4-BE49-F238E27FC236}">
                <a16:creationId xmlns:a16="http://schemas.microsoft.com/office/drawing/2014/main" id="{EDD10425-DACE-43D2-935D-0F0B6594D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5151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Testes e divulgação do MVP</a:t>
            </a:r>
          </a:p>
        </p:txBody>
      </p:sp>
      <p:sp>
        <p:nvSpPr>
          <p:cNvPr id="32" name="budget-value-3">
            <a:extLst xmlns:a="http://schemas.openxmlformats.org/drawingml/2006/main">
              <a:ext uri="{FF2B5EF4-FFF2-40B4-BE49-F238E27FC236}">
                <a16:creationId xmlns:a16="http://schemas.microsoft.com/office/drawing/2014/main" id="{EAEFC4D9-54B1-47EE-BCA9-1797878BC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65151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R$ 200</a:t>
            </a:r>
          </a:p>
        </p:txBody>
      </p:sp>
      <p:sp>
        <p:nvSpPr>
          <p:cNvPr id="33" name="budget-line-3">
            <a:extLst xmlns:a="http://schemas.openxmlformats.org/drawingml/2006/main">
              <a:ext uri="{FF2B5EF4-FFF2-40B4-BE49-F238E27FC236}">
                <a16:creationId xmlns:a16="http://schemas.microsoft.com/office/drawing/2014/main" id="{FF40C921-633E-4367-88D3-6FA84F11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9913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E3EC"/>
            </a:solidFill>
            <a:prstDash val="solid"/>
          </a:ln>
        </p:spPr>
      </p:sp>
      <p:sp>
        <p:nvSpPr>
          <p:cNvPr id="34" name="budget-item-4">
            <a:extLst xmlns:a="http://schemas.openxmlformats.org/drawingml/2006/main">
              <a:ext uri="{FF2B5EF4-FFF2-40B4-BE49-F238E27FC236}">
                <a16:creationId xmlns:a16="http://schemas.microsoft.com/office/drawing/2014/main" id="{E7FFC6B8-B3C0-4143-B2FF-233494A8F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3533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Reserva de contingência</a:t>
            </a:r>
          </a:p>
        </p:txBody>
      </p:sp>
      <p:sp>
        <p:nvSpPr>
          <p:cNvPr id="35" name="budget-value-4">
            <a:extLst xmlns:a="http://schemas.openxmlformats.org/drawingml/2006/main">
              <a:ext uri="{FF2B5EF4-FFF2-40B4-BE49-F238E27FC236}">
                <a16:creationId xmlns:a16="http://schemas.microsoft.com/office/drawing/2014/main" id="{266E947F-76E4-476D-B4D4-6B506501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30375" y="73533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R$ 150</a:t>
            </a:r>
          </a:p>
        </p:txBody>
      </p:sp>
      <p:sp>
        <p:nvSpPr>
          <p:cNvPr id="36" name="budget-line-4">
            <a:extLst xmlns:a="http://schemas.openxmlformats.org/drawingml/2006/main">
              <a:ext uri="{FF2B5EF4-FFF2-40B4-BE49-F238E27FC236}">
                <a16:creationId xmlns:a16="http://schemas.microsoft.com/office/drawing/2014/main" id="{381F6809-AF38-4158-8B4A-F1D3E4666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78295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EE3EC"/>
            </a:solidFill>
            <a:prstDash val="solid"/>
          </a:ln>
        </p:spPr>
      </p:sp>
      <p:sp>
        <p:nvSpPr>
          <p:cNvPr id="37" name="budget-total">
            <a:extLst xmlns:a="http://schemas.openxmlformats.org/drawingml/2006/main">
              <a:ext uri="{FF2B5EF4-FFF2-40B4-BE49-F238E27FC236}">
                <a16:creationId xmlns:a16="http://schemas.microsoft.com/office/drawing/2014/main" id="{B9EBC18A-334D-48A7-B250-39B77D80E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8096250"/>
            <a:ext cx="6286500" cy="590550"/>
          </a:xfrm>
          <a:prstGeom xmlns:a="http://schemas.openxmlformats.org/drawingml/2006/main" prst="roundRect">
            <a:avLst>
              <a:gd name="adj" fmla="val 29032"/>
            </a:avLst>
          </a:prstGeom>
          <a:solidFill xmlns:a="http://schemas.openxmlformats.org/drawingml/2006/main">
            <a:srgbClr val="2F375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budget-total-text">
            <a:extLst xmlns:a="http://schemas.openxmlformats.org/drawingml/2006/main">
              <a:ext uri="{FF2B5EF4-FFF2-40B4-BE49-F238E27FC236}">
                <a16:creationId xmlns:a16="http://schemas.microsoft.com/office/drawing/2014/main" id="{38A427BE-7451-4893-A2D9-33BE61087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8277225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LIMITE INICIAL PREVISTO  •  ATÉ R$ 800</a:t>
            </a:r>
          </a:p>
        </p:txBody>
      </p:sp>
    </p:spTree>
    <p:extLst>
      <p:ext uri="{BB962C8B-B14F-4D97-AF65-F5344CB8AC3E}">
        <p14:creationId xmlns:p14="http://schemas.microsoft.com/office/powerpoint/2010/main" val="97762584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title-6">
            <a:extLst xmlns:a="http://schemas.openxmlformats.org/drawingml/2006/main">
              <a:ext uri="{FF2B5EF4-FFF2-40B4-BE49-F238E27FC236}">
                <a16:creationId xmlns:a16="http://schemas.microsoft.com/office/drawing/2014/main" id="{672B106A-705E-408D-B0DC-991084BCF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Persona</a:t>
            </a:r>
          </a:p>
        </p:txBody>
      </p:sp>
      <p:sp>
        <p:nvSpPr>
          <p:cNvPr id="2" name="rule-6">
            <a:extLst xmlns:a="http://schemas.openxmlformats.org/drawingml/2006/main">
              <a:ext uri="{FF2B5EF4-FFF2-40B4-BE49-F238E27FC236}">
                <a16:creationId xmlns:a16="http://schemas.microsoft.com/office/drawing/2014/main" id="{83DC5D8F-09BB-4A8E-B8D6-09EC74C8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CBEAF47B-7DFC-43BA-9DBF-E84B2567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Hipótese inicial do cliente ideal</a:t>
            </a:r>
          </a:p>
        </p:txBody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D5EA00B4-5E3F-4314-9949-54CDC204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410F3346-0AE2-4A0B-9FEB-A107BA9DC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06</a:t>
            </a:r>
          </a:p>
        </p:txBody>
      </p:sp>
      <p:sp>
        <p:nvSpPr>
          <p:cNvPr id="6" name="persona-profile-panel">
            <a:extLst xmlns:a="http://schemas.openxmlformats.org/drawingml/2006/main">
              <a:ext uri="{FF2B5EF4-FFF2-40B4-BE49-F238E27FC236}">
                <a16:creationId xmlns:a16="http://schemas.microsoft.com/office/drawing/2014/main" id="{C76A0468-7BDA-4BD7-A8CF-3792A313C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4953000" cy="68580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4F7FF"/>
          </a:solidFill>
          <a:ln xmlns:a="http://schemas.openxmlformats.org/drawingml/2006/main" w="9525">
            <a:solidFill>
              <a:srgbClr val="DCE6FF"/>
            </a:solidFill>
            <a:prstDash val="solid"/>
          </a:ln>
        </p:spPr>
      </p:sp>
      <p:sp>
        <p:nvSpPr>
          <p:cNvPr id="7" name="avatar-bg">
            <a:extLst xmlns:a="http://schemas.openxmlformats.org/drawingml/2006/main">
              <a:ext uri="{FF2B5EF4-FFF2-40B4-BE49-F238E27FC236}">
                <a16:creationId xmlns:a16="http://schemas.microsoft.com/office/drawing/2014/main" id="{880EB035-CE21-426F-99F3-3A7A44D6A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524125"/>
            <a:ext cx="2095500" cy="2095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vatar-hair">
            <a:extLst xmlns:a="http://schemas.openxmlformats.org/drawingml/2006/main">
              <a:ext uri="{FF2B5EF4-FFF2-40B4-BE49-F238E27FC236}">
                <a16:creationId xmlns:a16="http://schemas.microsoft.com/office/drawing/2014/main" id="{23829C4B-2DD8-429A-941C-D683F27E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67025"/>
            <a:ext cx="11239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3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vatar-face">
            <a:extLst xmlns:a="http://schemas.openxmlformats.org/drawingml/2006/main">
              <a:ext uri="{FF2B5EF4-FFF2-40B4-BE49-F238E27FC236}">
                <a16:creationId xmlns:a16="http://schemas.microsoft.com/office/drawing/2014/main" id="{458EC73A-FF78-4216-A5BD-D4A314A22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76575"/>
            <a:ext cx="838200" cy="933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B39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avatar-body">
            <a:extLst xmlns:a="http://schemas.openxmlformats.org/drawingml/2006/main">
              <a:ext uri="{FF2B5EF4-FFF2-40B4-BE49-F238E27FC236}">
                <a16:creationId xmlns:a16="http://schemas.microsoft.com/office/drawing/2014/main" id="{42997A56-7B72-4F56-A7A7-F07BA4C13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857625"/>
            <a:ext cx="1447800" cy="666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ersona-name">
            <a:extLst xmlns:a="http://schemas.openxmlformats.org/drawingml/2006/main">
              <a:ext uri="{FF2B5EF4-FFF2-40B4-BE49-F238E27FC236}">
                <a16:creationId xmlns:a16="http://schemas.microsoft.com/office/drawing/2014/main" id="{499C5890-2CF5-4BBB-A2F4-13EA5C58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953000"/>
            <a:ext cx="400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Mariana Oliveira</a:t>
            </a:r>
          </a:p>
        </p:txBody>
      </p:sp>
      <p:sp>
        <p:nvSpPr>
          <p:cNvPr id="12" name="persona-data">
            <a:extLst xmlns:a="http://schemas.openxmlformats.org/drawingml/2006/main">
              <a:ext uri="{FF2B5EF4-FFF2-40B4-BE49-F238E27FC236}">
                <a16:creationId xmlns:a16="http://schemas.microsoft.com/office/drawing/2014/main" id="{B1DA44F4-8DAC-4FC6-A937-1963EF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000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22 anos  •  Sorocaba–SP</a:t>
            </a:r>
          </a:p>
          <a:p xmlns:a="http://schemas.openxmlformats.org/drawingml/2006/main">
            <a:pPr algn="ctr">
              <a:def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Estudante e assistente administrativa</a:t>
            </a:r>
          </a:p>
        </p:txBody>
      </p:sp>
      <p:sp>
        <p:nvSpPr>
          <p:cNvPr id="13" name="persona-bio">
            <a:extLst xmlns:a="http://schemas.openxmlformats.org/drawingml/2006/main">
              <a:ext uri="{FF2B5EF4-FFF2-40B4-BE49-F238E27FC236}">
                <a16:creationId xmlns:a16="http://schemas.microsoft.com/office/drawing/2014/main" id="{286C5A20-A35B-435F-997E-2063A2A7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6667500"/>
            <a:ext cx="3905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Concilia faculdade e trabalho. Costuma decidir o lazer no mesmo dia ou no fim de semana e quer combinar rapidamente com os amigos.</a:t>
            </a:r>
          </a:p>
        </p:txBody>
      </p:sp>
      <p:sp>
        <p:nvSpPr>
          <p:cNvPr id="14" name="persona-quote">
            <a:extLst xmlns:a="http://schemas.openxmlformats.org/drawingml/2006/main">
              <a:ext uri="{FF2B5EF4-FFF2-40B4-BE49-F238E27FC236}">
                <a16:creationId xmlns:a16="http://schemas.microsoft.com/office/drawing/2014/main" id="{3C965105-6797-4E57-8594-FDDAC4C67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905750"/>
            <a:ext cx="4095750" cy="781050"/>
          </a:xfrm>
          <a:prstGeom xmlns:a="http://schemas.openxmlformats.org/drawingml/2006/main" prst="roundRect">
            <a:avLst>
              <a:gd name="adj" fmla="val 2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CE6FF"/>
            </a:solidFill>
            <a:prstDash val="solid"/>
          </a:ln>
        </p:spPr>
      </p:sp>
      <p:sp>
        <p:nvSpPr>
          <p:cNvPr id="15" name="persona-quote-text">
            <a:extLst xmlns:a="http://schemas.openxmlformats.org/drawingml/2006/main">
              <a:ext uri="{FF2B5EF4-FFF2-40B4-BE49-F238E27FC236}">
                <a16:creationId xmlns:a16="http://schemas.microsoft.com/office/drawing/2014/main" id="{84D5E527-83A6-4D3D-93E4-6F21B011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80772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i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425" i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“Quero descobrir o que tem de bom hoje sem procurar em vários lugares.”</a:t>
            </a:r>
          </a:p>
        </p:txBody>
      </p:sp>
      <p:sp>
        <p:nvSpPr>
          <p:cNvPr id="16" name="persona-goals-surface">
            <a:extLst xmlns:a="http://schemas.openxmlformats.org/drawingml/2006/main">
              <a:ext uri="{FF2B5EF4-FFF2-40B4-BE49-F238E27FC236}">
                <a16:creationId xmlns:a16="http://schemas.microsoft.com/office/drawing/2014/main" id="{F8451EAF-F893-4589-A69D-87998B8E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95500"/>
            <a:ext cx="5238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persona-goals-accent">
            <a:extLst xmlns:a="http://schemas.openxmlformats.org/drawingml/2006/main">
              <a:ext uri="{FF2B5EF4-FFF2-40B4-BE49-F238E27FC236}">
                <a16:creationId xmlns:a16="http://schemas.microsoft.com/office/drawing/2014/main" id="{01000B36-621D-4EE0-B245-03E0C8E6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324100"/>
            <a:ext cx="1047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ersona-goals-heading">
            <a:extLst xmlns:a="http://schemas.openxmlformats.org/drawingml/2006/main">
              <a:ext uri="{FF2B5EF4-FFF2-40B4-BE49-F238E27FC236}">
                <a16:creationId xmlns:a16="http://schemas.microsoft.com/office/drawing/2014/main" id="{F1C7B17B-E380-48B2-B73A-F05F7D9FE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9552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Objetivos</a:t>
            </a:r>
          </a:p>
        </p:txBody>
      </p:sp>
      <p:sp>
        <p:nvSpPr>
          <p:cNvPr id="19" name="persona-goals-body">
            <a:extLst xmlns:a="http://schemas.openxmlformats.org/drawingml/2006/main">
              <a:ext uri="{FF2B5EF4-FFF2-40B4-BE49-F238E27FC236}">
                <a16:creationId xmlns:a16="http://schemas.microsoft.com/office/drawing/2014/main" id="{D8483164-925E-4DE9-8048-13C8FC08F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914650"/>
            <a:ext cx="47053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Encontrar opções próximas com rapidez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Escolher programas que caibam no orçamento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Compartilhar opções e combinar com amigos</a:t>
            </a:r>
          </a:p>
        </p:txBody>
      </p:sp>
      <p:sp>
        <p:nvSpPr>
          <p:cNvPr id="20" name="persona-pains-surface">
            <a:extLst xmlns:a="http://schemas.openxmlformats.org/drawingml/2006/main">
              <a:ext uri="{FF2B5EF4-FFF2-40B4-BE49-F238E27FC236}">
                <a16:creationId xmlns:a16="http://schemas.microsoft.com/office/drawing/2014/main" id="{AC20A4A1-49F2-46B2-B016-45C18C131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2095500"/>
            <a:ext cx="5619750" cy="31432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persona-pains-accent">
            <a:extLst xmlns:a="http://schemas.openxmlformats.org/drawingml/2006/main">
              <a:ext uri="{FF2B5EF4-FFF2-40B4-BE49-F238E27FC236}">
                <a16:creationId xmlns:a16="http://schemas.microsoft.com/office/drawing/2014/main" id="{F5B2C5FA-241E-476F-A399-8AA50218B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324100"/>
            <a:ext cx="1047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persona-pains-heading">
            <a:extLst xmlns:a="http://schemas.openxmlformats.org/drawingml/2006/main">
              <a:ext uri="{FF2B5EF4-FFF2-40B4-BE49-F238E27FC236}">
                <a16:creationId xmlns:a16="http://schemas.microsoft.com/office/drawing/2014/main" id="{D62E14F5-D473-4286-AA3F-EFC2758B3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229552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Dores</a:t>
            </a:r>
          </a:p>
        </p:txBody>
      </p:sp>
      <p:sp>
        <p:nvSpPr>
          <p:cNvPr id="23" name="persona-pains-body">
            <a:extLst xmlns:a="http://schemas.openxmlformats.org/drawingml/2006/main">
              <a:ext uri="{FF2B5EF4-FFF2-40B4-BE49-F238E27FC236}">
                <a16:creationId xmlns:a16="http://schemas.microsoft.com/office/drawing/2014/main" id="{6EC4A693-9B0D-473D-86D8-FD67DC0B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2914650"/>
            <a:ext cx="5086350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Informações espalhadas em várias redes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Preços e horários desatualizados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Dúvidas sobre distância, lotação e ambiente</a:t>
            </a:r>
          </a:p>
        </p:txBody>
      </p:sp>
      <p:sp>
        <p:nvSpPr>
          <p:cNvPr id="24" name="persona-behavior-surface">
            <a:extLst xmlns:a="http://schemas.openxmlformats.org/drawingml/2006/main">
              <a:ext uri="{FF2B5EF4-FFF2-40B4-BE49-F238E27FC236}">
                <a16:creationId xmlns:a16="http://schemas.microsoft.com/office/drawing/2014/main" id="{179497E6-4B68-4DB6-B8F2-12EBA3353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619750"/>
            <a:ext cx="52387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persona-behavior-accent">
            <a:extLst xmlns:a="http://schemas.openxmlformats.org/drawingml/2006/main">
              <a:ext uri="{FF2B5EF4-FFF2-40B4-BE49-F238E27FC236}">
                <a16:creationId xmlns:a16="http://schemas.microsoft.com/office/drawing/2014/main" id="{FB4E2E3D-52FF-4D36-9B32-A9BC2288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5848350"/>
            <a:ext cx="1047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ersona-behavior-heading">
            <a:extLst xmlns:a="http://schemas.openxmlformats.org/drawingml/2006/main">
              <a:ext uri="{FF2B5EF4-FFF2-40B4-BE49-F238E27FC236}">
                <a16:creationId xmlns:a16="http://schemas.microsoft.com/office/drawing/2014/main" id="{DD907898-E649-47EF-A208-C874D65D7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5819775"/>
            <a:ext cx="4495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Comportamentos</a:t>
            </a:r>
          </a:p>
        </p:txBody>
      </p:sp>
      <p:sp>
        <p:nvSpPr>
          <p:cNvPr id="27" name="persona-behavior-body">
            <a:extLst xmlns:a="http://schemas.openxmlformats.org/drawingml/2006/main">
              <a:ext uri="{FF2B5EF4-FFF2-40B4-BE49-F238E27FC236}">
                <a16:creationId xmlns:a16="http://schemas.microsoft.com/office/drawing/2014/main" id="{123CF843-76B5-417F-B2A7-F5B46BDD9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6438900"/>
            <a:ext cx="4705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Usa Instagram, TikTok, Google Maps e WhatsApp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Confia em avaliações e indicações de amigos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Pesquisa pouco antes de sair</a:t>
            </a:r>
          </a:p>
        </p:txBody>
      </p:sp>
      <p:sp>
        <p:nvSpPr>
          <p:cNvPr id="28" name="persona-needs-surface">
            <a:extLst xmlns:a="http://schemas.openxmlformats.org/drawingml/2006/main">
              <a:ext uri="{FF2B5EF4-FFF2-40B4-BE49-F238E27FC236}">
                <a16:creationId xmlns:a16="http://schemas.microsoft.com/office/drawing/2014/main" id="{EC50BA95-EF37-40B8-AE49-41F9CD1AC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619750"/>
            <a:ext cx="5619750" cy="3333750"/>
          </a:xfrm>
          <a:prstGeom xmlns:a="http://schemas.openxmlformats.org/drawingml/2006/main" prst="roundRect">
            <a:avLst>
              <a:gd name="adj" fmla="val 6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persona-needs-accent">
            <a:extLst xmlns:a="http://schemas.openxmlformats.org/drawingml/2006/main">
              <a:ext uri="{FF2B5EF4-FFF2-40B4-BE49-F238E27FC236}">
                <a16:creationId xmlns:a16="http://schemas.microsoft.com/office/drawing/2014/main" id="{2FCEB507-3EA4-470F-8419-3BE6451CC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5848350"/>
            <a:ext cx="104775" cy="381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ersona-needs-heading">
            <a:extLst xmlns:a="http://schemas.openxmlformats.org/drawingml/2006/main">
              <a:ext uri="{FF2B5EF4-FFF2-40B4-BE49-F238E27FC236}">
                <a16:creationId xmlns:a16="http://schemas.microsoft.com/office/drawing/2014/main" id="{B5191A2F-F4BF-4447-863F-01D3F598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5825" y="5819775"/>
            <a:ext cx="4876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Necessidades</a:t>
            </a:r>
          </a:p>
        </p:txBody>
      </p:sp>
      <p:sp>
        <p:nvSpPr>
          <p:cNvPr id="31" name="persona-needs-body">
            <a:extLst xmlns:a="http://schemas.openxmlformats.org/drawingml/2006/main">
              <a:ext uri="{FF2B5EF4-FFF2-40B4-BE49-F238E27FC236}">
                <a16:creationId xmlns:a16="http://schemas.microsoft.com/office/drawing/2014/main" id="{3AAFBA58-8B09-4159-AC93-E3445FBE0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7700" y="6438900"/>
            <a:ext cx="508635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Mapa e filtros por preço, distância e horário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Informações confiáveis e atualizadas</a:t>
            </a:r>
          </a:p>
          <a:p xmlns:a="http://schemas.openxmlformats.org/drawingml/2006/main">
            <a:pPr marL="228600" indent="-114300" algn="l">
              <a:spcAft>
                <a:spcPts val="600"/>
              </a:spcAft>
              <a:buChar char="•"/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Favoritos, compartilhamento e promoções</a:t>
            </a:r>
          </a:p>
        </p:txBody>
      </p:sp>
    </p:spTree>
    <p:extLst>
      <p:ext uri="{BB962C8B-B14F-4D97-AF65-F5344CB8AC3E}">
        <p14:creationId xmlns:p14="http://schemas.microsoft.com/office/powerpoint/2010/main" val="93534174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35A1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9" name="title-7">
            <a:extLst xmlns:a="http://schemas.openxmlformats.org/drawingml/2006/main">
              <a:ext uri="{FF2B5EF4-FFF2-40B4-BE49-F238E27FC236}">
                <a16:creationId xmlns:a16="http://schemas.microsoft.com/office/drawing/2014/main" id="{4503A4FC-737C-4A55-B1C7-4FA305BFA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Trello e acompanhamento do projeto</a:t>
            </a:r>
          </a:p>
        </p:txBody>
      </p:sp>
      <p:sp>
        <p:nvSpPr>
          <p:cNvPr id="2" name="rule-7">
            <a:extLst xmlns:a="http://schemas.openxmlformats.org/drawingml/2006/main">
              <a:ext uri="{FF2B5EF4-FFF2-40B4-BE49-F238E27FC236}">
                <a16:creationId xmlns:a16="http://schemas.microsoft.com/office/drawing/2014/main" id="{67B06A17-3EEC-4517-9350-3B8D19D8D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7C917A82-6397-4405-84B6-7D2760B8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rPr>
              <a:t>Quadro inicial a ser replicado no Trello</a:t>
            </a:r>
          </a:p>
        </p:txBody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FDA90245-4397-4242-B746-8F6782BD0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794DC51-EB72-4D69-A677-CC10C427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07</a:t>
            </a:r>
          </a:p>
        </p:txBody>
      </p:sp>
      <p:sp>
        <p:nvSpPr>
          <p:cNvPr id="6" name="board-head">
            <a:extLst xmlns:a="http://schemas.openxmlformats.org/drawingml/2006/main">
              <a:ext uri="{FF2B5EF4-FFF2-40B4-BE49-F238E27FC236}">
                <a16:creationId xmlns:a16="http://schemas.microsoft.com/office/drawing/2014/main" id="{74C3B20E-6049-4829-A509-EB40A3852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52625"/>
            <a:ext cx="16573500" cy="914400"/>
          </a:xfrm>
          <a:prstGeom xmlns:a="http://schemas.openxmlformats.org/drawingml/2006/main" prst="roundRect">
            <a:avLst>
              <a:gd name="adj" fmla="val 20833"/>
            </a:avLst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board-title">
            <a:extLst xmlns:a="http://schemas.openxmlformats.org/drawingml/2006/main">
              <a:ext uri="{FF2B5EF4-FFF2-40B4-BE49-F238E27FC236}">
                <a16:creationId xmlns:a16="http://schemas.microsoft.com/office/drawing/2014/main" id="{B9D1D811-A66F-440F-9867-93F433EBB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171700"/>
            <a:ext cx="714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5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Quadro Kanban  •  Qual é a Boa?</a:t>
            </a:r>
          </a:p>
        </p:txBody>
      </p:sp>
      <p:sp>
        <p:nvSpPr>
          <p:cNvPr id="8" name="board-team">
            <a:extLst xmlns:a="http://schemas.openxmlformats.org/drawingml/2006/main">
              <a:ext uri="{FF2B5EF4-FFF2-40B4-BE49-F238E27FC236}">
                <a16:creationId xmlns:a16="http://schemas.microsoft.com/office/drawing/2014/main" id="{9A22A344-7266-45C9-8D32-0BD7533A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2288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Responsáveis provisórios: Caíque, Gabriel, João Pedro e Pedro Henrique</a:t>
            </a:r>
          </a:p>
        </p:txBody>
      </p:sp>
      <p:sp>
        <p:nvSpPr>
          <p:cNvPr id="9" name="kanban-col-0">
            <a:extLst xmlns:a="http://schemas.openxmlformats.org/drawingml/2006/main">
              <a:ext uri="{FF2B5EF4-FFF2-40B4-BE49-F238E27FC236}">
                <a16:creationId xmlns:a16="http://schemas.microsoft.com/office/drawing/2014/main" id="{2430404E-D673-466D-8F3F-28D817C1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3905250" cy="5810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D6E5F6"/>
            </a:solidFill>
            <a:prstDash val="solid"/>
          </a:ln>
        </p:spPr>
      </p:sp>
      <p:sp>
        <p:nvSpPr>
          <p:cNvPr id="10" name="kanban-head-0">
            <a:extLst xmlns:a="http://schemas.openxmlformats.org/drawingml/2006/main">
              <a:ext uri="{FF2B5EF4-FFF2-40B4-BE49-F238E27FC236}">
                <a16:creationId xmlns:a16="http://schemas.microsoft.com/office/drawing/2014/main" id="{90D2A89D-226B-4FF3-80DE-BE7B77DA9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62325"/>
            <a:ext cx="3562350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344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kanban-title-0">
            <a:extLst xmlns:a="http://schemas.openxmlformats.org/drawingml/2006/main">
              <a:ext uri="{FF2B5EF4-FFF2-40B4-BE49-F238E27FC236}">
                <a16:creationId xmlns:a16="http://schemas.microsoft.com/office/drawing/2014/main" id="{2C4EB6F3-E3B6-450A-B7C2-A5ACCC373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33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BACKLOG</a:t>
            </a:r>
          </a:p>
        </p:txBody>
      </p:sp>
      <p:sp>
        <p:nvSpPr>
          <p:cNvPr id="12" name="kanban-card-0-0">
            <a:extLst xmlns:a="http://schemas.openxmlformats.org/drawingml/2006/main">
              <a:ext uri="{FF2B5EF4-FFF2-40B4-BE49-F238E27FC236}">
                <a16:creationId xmlns:a16="http://schemas.microsoft.com/office/drawing/2014/main" id="{8351F055-945B-4810-8BB4-597975923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2386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kanban-card-text-0-0">
            <a:extLst xmlns:a="http://schemas.openxmlformats.org/drawingml/2006/main">
              <a:ext uri="{FF2B5EF4-FFF2-40B4-BE49-F238E27FC236}">
                <a16:creationId xmlns:a16="http://schemas.microsoft.com/office/drawing/2014/main" id="{E091E7B3-773A-4F8A-93FA-8A4CBF6E0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4481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Pesquisa com usuários</a:t>
            </a:r>
          </a:p>
        </p:txBody>
      </p:sp>
      <p:sp>
        <p:nvSpPr>
          <p:cNvPr id="14" name="kanban-owner-bg-0-0">
            <a:extLst xmlns:a="http://schemas.openxmlformats.org/drawingml/2006/main">
              <a:ext uri="{FF2B5EF4-FFF2-40B4-BE49-F238E27FC236}">
                <a16:creationId xmlns:a16="http://schemas.microsoft.com/office/drawing/2014/main" id="{A3D6A328-007F-40B0-A04E-14AFE6321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591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kanban-owner-0-0">
            <a:extLst xmlns:a="http://schemas.openxmlformats.org/drawingml/2006/main">
              <a:ext uri="{FF2B5EF4-FFF2-40B4-BE49-F238E27FC236}">
                <a16:creationId xmlns:a16="http://schemas.microsoft.com/office/drawing/2014/main" id="{FEFDD902-63FD-43BD-8040-889E27E3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244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JP</a:t>
            </a:r>
          </a:p>
        </p:txBody>
      </p:sp>
      <p:sp>
        <p:nvSpPr>
          <p:cNvPr id="16" name="kanban-card-0-1">
            <a:extLst xmlns:a="http://schemas.openxmlformats.org/drawingml/2006/main">
              <a:ext uri="{FF2B5EF4-FFF2-40B4-BE49-F238E27FC236}">
                <a16:creationId xmlns:a16="http://schemas.microsoft.com/office/drawing/2014/main" id="{3AACA2B8-D73F-410C-89C8-7A335965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66737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kanban-card-text-0-1">
            <a:extLst xmlns:a="http://schemas.openxmlformats.org/drawingml/2006/main">
              <a:ext uri="{FF2B5EF4-FFF2-40B4-BE49-F238E27FC236}">
                <a16:creationId xmlns:a16="http://schemas.microsoft.com/office/drawing/2014/main" id="{719709F1-AA75-4CCF-8EA2-7320D0FF7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8769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Arquitetura do MVP</a:t>
            </a:r>
          </a:p>
        </p:txBody>
      </p:sp>
      <p:sp>
        <p:nvSpPr>
          <p:cNvPr id="18" name="kanban-owner-bg-0-1">
            <a:extLst xmlns:a="http://schemas.openxmlformats.org/drawingml/2006/main">
              <a:ext uri="{FF2B5EF4-FFF2-40B4-BE49-F238E27FC236}">
                <a16:creationId xmlns:a16="http://schemas.microsoft.com/office/drawing/2014/main" id="{585EE8EB-F5CE-458C-88A3-8811CC20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kanban-owner-0-1">
            <a:extLst xmlns:a="http://schemas.openxmlformats.org/drawingml/2006/main">
              <a:ext uri="{FF2B5EF4-FFF2-40B4-BE49-F238E27FC236}">
                <a16:creationId xmlns:a16="http://schemas.microsoft.com/office/drawing/2014/main" id="{28679184-9E79-4358-BE06-F256E4EF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61531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GH</a:t>
            </a:r>
          </a:p>
        </p:txBody>
      </p:sp>
      <p:sp>
        <p:nvSpPr>
          <p:cNvPr id="20" name="kanban-card-0-2">
            <a:extLst xmlns:a="http://schemas.openxmlformats.org/drawingml/2006/main">
              <a:ext uri="{FF2B5EF4-FFF2-40B4-BE49-F238E27FC236}">
                <a16:creationId xmlns:a16="http://schemas.microsoft.com/office/drawing/2014/main" id="{7CB2B320-3B26-46AD-B857-0FF821B2F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70961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kanban-card-text-0-2">
            <a:extLst xmlns:a="http://schemas.openxmlformats.org/drawingml/2006/main">
              <a:ext uri="{FF2B5EF4-FFF2-40B4-BE49-F238E27FC236}">
                <a16:creationId xmlns:a16="http://schemas.microsoft.com/office/drawing/2014/main" id="{B640C2BD-3386-45DB-AF00-E43F5D98B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73056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Identidade visual</a:t>
            </a:r>
          </a:p>
        </p:txBody>
      </p:sp>
      <p:sp>
        <p:nvSpPr>
          <p:cNvPr id="22" name="kanban-owner-bg-0-2">
            <a:extLst xmlns:a="http://schemas.openxmlformats.org/drawingml/2006/main">
              <a:ext uri="{FF2B5EF4-FFF2-40B4-BE49-F238E27FC236}">
                <a16:creationId xmlns:a16="http://schemas.microsoft.com/office/drawing/2014/main" id="{1D6B3989-45D2-4A8E-BFFB-3C984F69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44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4415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kanban-owner-0-2">
            <a:extLst xmlns:a="http://schemas.openxmlformats.org/drawingml/2006/main">
              <a:ext uri="{FF2B5EF4-FFF2-40B4-BE49-F238E27FC236}">
                <a16:creationId xmlns:a16="http://schemas.microsoft.com/office/drawing/2014/main" id="{CE35A83C-B64D-4669-A586-68726A55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75819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PH</a:t>
            </a:r>
          </a:p>
        </p:txBody>
      </p:sp>
      <p:sp>
        <p:nvSpPr>
          <p:cNvPr id="24" name="kanban-col-1">
            <a:extLst xmlns:a="http://schemas.openxmlformats.org/drawingml/2006/main">
              <a:ext uri="{FF2B5EF4-FFF2-40B4-BE49-F238E27FC236}">
                <a16:creationId xmlns:a16="http://schemas.microsoft.com/office/drawing/2014/main" id="{94CE33E3-522C-4815-919E-4EC5AD770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90875"/>
            <a:ext cx="3905250" cy="5810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D6E5F6"/>
            </a:solidFill>
            <a:prstDash val="solid"/>
          </a:ln>
        </p:spPr>
      </p:sp>
      <p:sp>
        <p:nvSpPr>
          <p:cNvPr id="25" name="kanban-head-1">
            <a:extLst xmlns:a="http://schemas.openxmlformats.org/drawingml/2006/main">
              <a:ext uri="{FF2B5EF4-FFF2-40B4-BE49-F238E27FC236}">
                <a16:creationId xmlns:a16="http://schemas.microsoft.com/office/drawing/2014/main" id="{01EF4C81-3A83-4241-B5C0-8D3184A1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62325"/>
            <a:ext cx="3562350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kanban-title-1">
            <a:extLst xmlns:a="http://schemas.openxmlformats.org/drawingml/2006/main">
              <a:ext uri="{FF2B5EF4-FFF2-40B4-BE49-F238E27FC236}">
                <a16:creationId xmlns:a16="http://schemas.microsoft.com/office/drawing/2014/main" id="{F442BD2B-D0C1-4A54-96F9-E7BAE5FE4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533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 FAZER</a:t>
            </a:r>
          </a:p>
        </p:txBody>
      </p:sp>
      <p:sp>
        <p:nvSpPr>
          <p:cNvPr id="27" name="kanban-card-1-0">
            <a:extLst xmlns:a="http://schemas.openxmlformats.org/drawingml/2006/main">
              <a:ext uri="{FF2B5EF4-FFF2-40B4-BE49-F238E27FC236}">
                <a16:creationId xmlns:a16="http://schemas.microsoft.com/office/drawing/2014/main" id="{D7A52FE2-6262-4A22-933A-227C4788B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2386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kanban-card-text-1-0">
            <a:extLst xmlns:a="http://schemas.openxmlformats.org/drawingml/2006/main">
              <a:ext uri="{FF2B5EF4-FFF2-40B4-BE49-F238E27FC236}">
                <a16:creationId xmlns:a16="http://schemas.microsoft.com/office/drawing/2014/main" id="{E4B30114-5346-4DE2-B50D-CC258619C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44481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Mapa mental</a:t>
            </a:r>
          </a:p>
        </p:txBody>
      </p:sp>
      <p:sp>
        <p:nvSpPr>
          <p:cNvPr id="29" name="kanban-owner-bg-1-0">
            <a:extLst xmlns:a="http://schemas.openxmlformats.org/drawingml/2006/main">
              <a:ext uri="{FF2B5EF4-FFF2-40B4-BE49-F238E27FC236}">
                <a16:creationId xmlns:a16="http://schemas.microsoft.com/office/drawing/2014/main" id="{0C8B5238-4915-4B66-B885-39548D4C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591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kanban-owner-1-0">
            <a:extLst xmlns:a="http://schemas.openxmlformats.org/drawingml/2006/main">
              <a:ext uri="{FF2B5EF4-FFF2-40B4-BE49-F238E27FC236}">
                <a16:creationId xmlns:a16="http://schemas.microsoft.com/office/drawing/2014/main" id="{9D0831C6-E449-4409-A460-A6A9C3C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47244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JP</a:t>
            </a:r>
          </a:p>
        </p:txBody>
      </p:sp>
      <p:sp>
        <p:nvSpPr>
          <p:cNvPr id="31" name="kanban-card-1-1">
            <a:extLst xmlns:a="http://schemas.openxmlformats.org/drawingml/2006/main">
              <a:ext uri="{FF2B5EF4-FFF2-40B4-BE49-F238E27FC236}">
                <a16:creationId xmlns:a16="http://schemas.microsoft.com/office/drawing/2014/main" id="{DA89E78B-B4AF-4639-A2E6-760307C33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66737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2" name="kanban-card-text-1-1">
            <a:extLst xmlns:a="http://schemas.openxmlformats.org/drawingml/2006/main">
              <a:ext uri="{FF2B5EF4-FFF2-40B4-BE49-F238E27FC236}">
                <a16:creationId xmlns:a16="http://schemas.microsoft.com/office/drawing/2014/main" id="{B7D8B374-4F01-4EFB-9C0D-4A8DE8A1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8769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Cronograma e orçamento</a:t>
            </a:r>
          </a:p>
        </p:txBody>
      </p:sp>
      <p:sp>
        <p:nvSpPr>
          <p:cNvPr id="33" name="kanban-owner-bg-1-1">
            <a:extLst xmlns:a="http://schemas.openxmlformats.org/drawingml/2006/main">
              <a:ext uri="{FF2B5EF4-FFF2-40B4-BE49-F238E27FC236}">
                <a16:creationId xmlns:a16="http://schemas.microsoft.com/office/drawing/2014/main" id="{2AC60B5C-E8B4-4548-BC6D-4E2A5D83B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kanban-owner-1-1">
            <a:extLst xmlns:a="http://schemas.openxmlformats.org/drawingml/2006/main">
              <a:ext uri="{FF2B5EF4-FFF2-40B4-BE49-F238E27FC236}">
                <a16:creationId xmlns:a16="http://schemas.microsoft.com/office/drawing/2014/main" id="{A547877D-8B61-426B-B685-FEAFCB1DF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61531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CF</a:t>
            </a:r>
          </a:p>
        </p:txBody>
      </p:sp>
      <p:sp>
        <p:nvSpPr>
          <p:cNvPr id="35" name="kanban-card-1-2">
            <a:extLst xmlns:a="http://schemas.openxmlformats.org/drawingml/2006/main">
              <a:ext uri="{FF2B5EF4-FFF2-40B4-BE49-F238E27FC236}">
                <a16:creationId xmlns:a16="http://schemas.microsoft.com/office/drawing/2014/main" id="{26222202-433F-4C15-B7C7-458ED35F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70961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6" name="kanban-card-text-1-2">
            <a:extLst xmlns:a="http://schemas.openxmlformats.org/drawingml/2006/main">
              <a:ext uri="{FF2B5EF4-FFF2-40B4-BE49-F238E27FC236}">
                <a16:creationId xmlns:a16="http://schemas.microsoft.com/office/drawing/2014/main" id="{5CAF4C36-60FB-484A-B71D-51EA24245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73056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Revisão dos slides</a:t>
            </a:r>
          </a:p>
        </p:txBody>
      </p:sp>
      <p:sp>
        <p:nvSpPr>
          <p:cNvPr id="37" name="kanban-owner-bg-1-2">
            <a:extLst xmlns:a="http://schemas.openxmlformats.org/drawingml/2006/main">
              <a:ext uri="{FF2B5EF4-FFF2-40B4-BE49-F238E27FC236}">
                <a16:creationId xmlns:a16="http://schemas.microsoft.com/office/drawing/2014/main" id="{DF88E154-A62B-4E13-ADEF-C857319EC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44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kanban-owner-1-2">
            <a:extLst xmlns:a="http://schemas.openxmlformats.org/drawingml/2006/main">
              <a:ext uri="{FF2B5EF4-FFF2-40B4-BE49-F238E27FC236}">
                <a16:creationId xmlns:a16="http://schemas.microsoft.com/office/drawing/2014/main" id="{0C19BA69-AF2B-4065-BE9D-D877C357D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75819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TODOS</a:t>
            </a:r>
          </a:p>
        </p:txBody>
      </p:sp>
      <p:sp>
        <p:nvSpPr>
          <p:cNvPr id="39" name="kanban-col-2">
            <a:extLst xmlns:a="http://schemas.openxmlformats.org/drawingml/2006/main">
              <a:ext uri="{FF2B5EF4-FFF2-40B4-BE49-F238E27FC236}">
                <a16:creationId xmlns:a16="http://schemas.microsoft.com/office/drawing/2014/main" id="{2C7D46EC-505A-4017-8419-15340B7C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90875"/>
            <a:ext cx="3905250" cy="5810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D6E5F6"/>
            </a:solidFill>
            <a:prstDash val="solid"/>
          </a:ln>
        </p:spPr>
      </p:sp>
      <p:sp>
        <p:nvSpPr>
          <p:cNvPr id="40" name="kanban-head-2">
            <a:extLst xmlns:a="http://schemas.openxmlformats.org/drawingml/2006/main">
              <a:ext uri="{FF2B5EF4-FFF2-40B4-BE49-F238E27FC236}">
                <a16:creationId xmlns:a16="http://schemas.microsoft.com/office/drawing/2014/main" id="{C87A0997-5B40-45AA-849C-D749883BD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362325"/>
            <a:ext cx="3562350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kanban-title-2">
            <a:extLst xmlns:a="http://schemas.openxmlformats.org/drawingml/2006/main">
              <a:ext uri="{FF2B5EF4-FFF2-40B4-BE49-F238E27FC236}">
                <a16:creationId xmlns:a16="http://schemas.microsoft.com/office/drawing/2014/main" id="{71C2D8B0-F6ED-4C5F-8D2F-EB76C16D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3533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EM ANDAMENTO</a:t>
            </a:r>
          </a:p>
        </p:txBody>
      </p:sp>
      <p:sp>
        <p:nvSpPr>
          <p:cNvPr id="42" name="kanban-card-2-0">
            <a:extLst xmlns:a="http://schemas.openxmlformats.org/drawingml/2006/main">
              <a:ext uri="{FF2B5EF4-FFF2-40B4-BE49-F238E27FC236}">
                <a16:creationId xmlns:a16="http://schemas.microsoft.com/office/drawing/2014/main" id="{7599C3FB-87AF-44C1-A601-F7A49A38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2386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3" name="kanban-card-text-2-0">
            <a:extLst xmlns:a="http://schemas.openxmlformats.org/drawingml/2006/main">
              <a:ext uri="{FF2B5EF4-FFF2-40B4-BE49-F238E27FC236}">
                <a16:creationId xmlns:a16="http://schemas.microsoft.com/office/drawing/2014/main" id="{A5A5D3B1-BE3A-49B0-AA20-D3E7A91CC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481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Documentação AC1</a:t>
            </a:r>
          </a:p>
        </p:txBody>
      </p:sp>
      <p:sp>
        <p:nvSpPr>
          <p:cNvPr id="44" name="kanban-owner-bg-2-0">
            <a:extLst xmlns:a="http://schemas.openxmlformats.org/drawingml/2006/main">
              <a:ext uri="{FF2B5EF4-FFF2-40B4-BE49-F238E27FC236}">
                <a16:creationId xmlns:a16="http://schemas.microsoft.com/office/drawing/2014/main" id="{9D116688-DFF7-4546-B728-AC97EB1B9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591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kanban-owner-2-0">
            <a:extLst xmlns:a="http://schemas.openxmlformats.org/drawingml/2006/main">
              <a:ext uri="{FF2B5EF4-FFF2-40B4-BE49-F238E27FC236}">
                <a16:creationId xmlns:a16="http://schemas.microsoft.com/office/drawing/2014/main" id="{0B8F2B45-8737-4381-A94B-31F656250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47244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CF</a:t>
            </a:r>
          </a:p>
        </p:txBody>
      </p:sp>
      <p:sp>
        <p:nvSpPr>
          <p:cNvPr id="46" name="kanban-card-2-1">
            <a:extLst xmlns:a="http://schemas.openxmlformats.org/drawingml/2006/main">
              <a:ext uri="{FF2B5EF4-FFF2-40B4-BE49-F238E27FC236}">
                <a16:creationId xmlns:a16="http://schemas.microsoft.com/office/drawing/2014/main" id="{6DAD6F12-A55C-4C13-BEB7-9DD7A001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566737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7" name="kanban-card-text-2-1">
            <a:extLst xmlns:a="http://schemas.openxmlformats.org/drawingml/2006/main">
              <a:ext uri="{FF2B5EF4-FFF2-40B4-BE49-F238E27FC236}">
                <a16:creationId xmlns:a16="http://schemas.microsoft.com/office/drawing/2014/main" id="{441DA332-5E86-41AB-B9CC-666AA4B6E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8769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Persona</a:t>
            </a:r>
          </a:p>
        </p:txBody>
      </p:sp>
      <p:sp>
        <p:nvSpPr>
          <p:cNvPr id="48" name="kanban-owner-bg-2-1">
            <a:extLst xmlns:a="http://schemas.openxmlformats.org/drawingml/2006/main">
              <a:ext uri="{FF2B5EF4-FFF2-40B4-BE49-F238E27FC236}">
                <a16:creationId xmlns:a16="http://schemas.microsoft.com/office/drawing/2014/main" id="{05259045-2FE9-46F7-9B87-32D4DFFF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kanban-owner-2-1">
            <a:extLst xmlns:a="http://schemas.openxmlformats.org/drawingml/2006/main">
              <a:ext uri="{FF2B5EF4-FFF2-40B4-BE49-F238E27FC236}">
                <a16:creationId xmlns:a16="http://schemas.microsoft.com/office/drawing/2014/main" id="{B6A9A730-E98C-4727-B8F2-9C59BE25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61531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GH</a:t>
            </a:r>
          </a:p>
        </p:txBody>
      </p:sp>
      <p:sp>
        <p:nvSpPr>
          <p:cNvPr id="50" name="kanban-card-2-2">
            <a:extLst xmlns:a="http://schemas.openxmlformats.org/drawingml/2006/main">
              <a:ext uri="{FF2B5EF4-FFF2-40B4-BE49-F238E27FC236}">
                <a16:creationId xmlns:a16="http://schemas.microsoft.com/office/drawing/2014/main" id="{CAD90067-9CC7-40A8-B69C-BD6625CC9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70961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1" name="kanban-card-text-2-2">
            <a:extLst xmlns:a="http://schemas.openxmlformats.org/drawingml/2006/main">
              <a:ext uri="{FF2B5EF4-FFF2-40B4-BE49-F238E27FC236}">
                <a16:creationId xmlns:a16="http://schemas.microsoft.com/office/drawing/2014/main" id="{C61D988A-F7C7-432C-B02F-5B805A835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73056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Artigo parcial</a:t>
            </a:r>
          </a:p>
        </p:txBody>
      </p:sp>
      <p:sp>
        <p:nvSpPr>
          <p:cNvPr id="52" name="kanban-owner-bg-2-2">
            <a:extLst xmlns:a="http://schemas.openxmlformats.org/drawingml/2006/main">
              <a:ext uri="{FF2B5EF4-FFF2-40B4-BE49-F238E27FC236}">
                <a16:creationId xmlns:a16="http://schemas.microsoft.com/office/drawing/2014/main" id="{F31F5F88-8271-46BE-B304-6AE2CFAA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44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kanban-owner-2-2">
            <a:extLst xmlns:a="http://schemas.openxmlformats.org/drawingml/2006/main">
              <a:ext uri="{FF2B5EF4-FFF2-40B4-BE49-F238E27FC236}">
                <a16:creationId xmlns:a16="http://schemas.microsoft.com/office/drawing/2014/main" id="{E6162E59-F3A0-4D47-8E49-0594BC1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425" y="75819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GH</a:t>
            </a:r>
          </a:p>
        </p:txBody>
      </p:sp>
      <p:sp>
        <p:nvSpPr>
          <p:cNvPr id="54" name="kanban-col-3">
            <a:extLst xmlns:a="http://schemas.openxmlformats.org/drawingml/2006/main">
              <a:ext uri="{FF2B5EF4-FFF2-40B4-BE49-F238E27FC236}">
                <a16:creationId xmlns:a16="http://schemas.microsoft.com/office/drawing/2014/main" id="{B62B08C9-8D75-4D9E-9B37-3E5904C5F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90875"/>
            <a:ext cx="3905250" cy="5810250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FF5FC"/>
          </a:solidFill>
          <a:ln xmlns:a="http://schemas.openxmlformats.org/drawingml/2006/main" w="9525">
            <a:solidFill>
              <a:srgbClr val="D6E5F6"/>
            </a:solidFill>
            <a:prstDash val="solid"/>
          </a:ln>
        </p:spPr>
      </p:sp>
      <p:sp>
        <p:nvSpPr>
          <p:cNvPr id="55" name="kanban-head-3">
            <a:extLst xmlns:a="http://schemas.openxmlformats.org/drawingml/2006/main">
              <a:ext uri="{FF2B5EF4-FFF2-40B4-BE49-F238E27FC236}">
                <a16:creationId xmlns:a16="http://schemas.microsoft.com/office/drawing/2014/main" id="{A2B9C611-EB6F-41C7-AF1C-0B9E41253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1700" y="3362325"/>
            <a:ext cx="3562350" cy="609600"/>
          </a:xfrm>
          <a:prstGeom xmlns:a="http://schemas.openxmlformats.org/drawingml/2006/main" prst="roundRect">
            <a:avLst>
              <a:gd name="adj" fmla="val 23438"/>
            </a:avLst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kanban-title-3">
            <a:extLst xmlns:a="http://schemas.openxmlformats.org/drawingml/2006/main">
              <a:ext uri="{FF2B5EF4-FFF2-40B4-BE49-F238E27FC236}">
                <a16:creationId xmlns:a16="http://schemas.microsoft.com/office/drawing/2014/main" id="{48441657-7C88-42F5-BF1C-5BC85685E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63625" y="353377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CONCLUÍDO</a:t>
            </a:r>
          </a:p>
        </p:txBody>
      </p:sp>
      <p:sp>
        <p:nvSpPr>
          <p:cNvPr id="57" name="kanban-card-3-0">
            <a:extLst xmlns:a="http://schemas.openxmlformats.org/drawingml/2006/main">
              <a:ext uri="{FF2B5EF4-FFF2-40B4-BE49-F238E27FC236}">
                <a16:creationId xmlns:a16="http://schemas.microsoft.com/office/drawing/2014/main" id="{561F0FB4-2843-45B4-A8E7-D0B83FB1B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42386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kanban-card-text-3-0">
            <a:extLst xmlns:a="http://schemas.openxmlformats.org/drawingml/2006/main">
              <a:ext uri="{FF2B5EF4-FFF2-40B4-BE49-F238E27FC236}">
                <a16:creationId xmlns:a16="http://schemas.microsoft.com/office/drawing/2014/main" id="{4021F6DA-6E16-424C-9107-ED58F550D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44481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Escolha da ideia</a:t>
            </a:r>
          </a:p>
        </p:txBody>
      </p:sp>
      <p:sp>
        <p:nvSpPr>
          <p:cNvPr id="59" name="kanban-owner-bg-3-0">
            <a:extLst xmlns:a="http://schemas.openxmlformats.org/drawingml/2006/main">
              <a:ext uri="{FF2B5EF4-FFF2-40B4-BE49-F238E27FC236}">
                <a16:creationId xmlns:a16="http://schemas.microsoft.com/office/drawing/2014/main" id="{D7735014-43AA-4A27-9554-712D860BF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45910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kanban-owner-3-0">
            <a:extLst xmlns:a="http://schemas.openxmlformats.org/drawingml/2006/main">
              <a:ext uri="{FF2B5EF4-FFF2-40B4-BE49-F238E27FC236}">
                <a16:creationId xmlns:a16="http://schemas.microsoft.com/office/drawing/2014/main" id="{4F7D7355-2A47-42CD-8A3D-5EB1422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47244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TODOS</a:t>
            </a:r>
          </a:p>
        </p:txBody>
      </p:sp>
      <p:sp>
        <p:nvSpPr>
          <p:cNvPr id="61" name="kanban-card-3-1">
            <a:extLst xmlns:a="http://schemas.openxmlformats.org/drawingml/2006/main">
              <a:ext uri="{FF2B5EF4-FFF2-40B4-BE49-F238E27FC236}">
                <a16:creationId xmlns:a16="http://schemas.microsoft.com/office/drawing/2014/main" id="{5C33B7CB-4A62-4DAE-B634-51300353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566737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2" name="kanban-card-text-3-1">
            <a:extLst xmlns:a="http://schemas.openxmlformats.org/drawingml/2006/main">
              <a:ext uri="{FF2B5EF4-FFF2-40B4-BE49-F238E27FC236}">
                <a16:creationId xmlns:a16="http://schemas.microsoft.com/office/drawing/2014/main" id="{4EA277E6-7741-4F40-81C3-5C1C4E4B6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587692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Nome do projeto</a:t>
            </a:r>
          </a:p>
        </p:txBody>
      </p:sp>
      <p:sp>
        <p:nvSpPr>
          <p:cNvPr id="63" name="kanban-owner-bg-3-1">
            <a:extLst xmlns:a="http://schemas.openxmlformats.org/drawingml/2006/main">
              <a:ext uri="{FF2B5EF4-FFF2-40B4-BE49-F238E27FC236}">
                <a16:creationId xmlns:a16="http://schemas.microsoft.com/office/drawing/2014/main" id="{747EE531-CE24-40E9-8B65-FA69653BA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60198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kanban-owner-3-1">
            <a:extLst xmlns:a="http://schemas.openxmlformats.org/drawingml/2006/main">
              <a:ext uri="{FF2B5EF4-FFF2-40B4-BE49-F238E27FC236}">
                <a16:creationId xmlns:a16="http://schemas.microsoft.com/office/drawing/2014/main" id="{77D5B297-F68F-4FF5-8F69-D5091810C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615315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7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TODOS</a:t>
            </a:r>
          </a:p>
        </p:txBody>
      </p:sp>
      <p:sp>
        <p:nvSpPr>
          <p:cNvPr id="65" name="kanban-card-3-2">
            <a:extLst xmlns:a="http://schemas.openxmlformats.org/drawingml/2006/main">
              <a:ext uri="{FF2B5EF4-FFF2-40B4-BE49-F238E27FC236}">
                <a16:creationId xmlns:a16="http://schemas.microsoft.com/office/drawing/2014/main" id="{E8672E72-A57A-4957-816D-E649AFBF9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8375" y="7096125"/>
            <a:ext cx="3429000" cy="1123950"/>
          </a:xfrm>
          <a:prstGeom xmlns:a="http://schemas.openxmlformats.org/drawingml/2006/main" prst="roundRect">
            <a:avLst>
              <a:gd name="adj" fmla="val 127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E3E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6" name="kanban-card-text-3-2">
            <a:extLst xmlns:a="http://schemas.openxmlformats.org/drawingml/2006/main">
              <a:ext uri="{FF2B5EF4-FFF2-40B4-BE49-F238E27FC236}">
                <a16:creationId xmlns:a16="http://schemas.microsoft.com/office/drawing/2014/main" id="{D9E636D1-ADE5-434F-B346-70ED703C7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7305675"/>
            <a:ext cx="238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Formação inicial</a:t>
            </a:r>
          </a:p>
        </p:txBody>
      </p:sp>
      <p:sp>
        <p:nvSpPr>
          <p:cNvPr id="67" name="kanban-owner-bg-3-2">
            <a:extLst xmlns:a="http://schemas.openxmlformats.org/drawingml/2006/main">
              <a:ext uri="{FF2B5EF4-FFF2-40B4-BE49-F238E27FC236}">
                <a16:creationId xmlns:a16="http://schemas.microsoft.com/office/drawing/2014/main" id="{C8E4E32E-019B-4826-A668-B8E9CAC4A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74485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kanban-owner-3-2">
            <a:extLst xmlns:a="http://schemas.openxmlformats.org/drawingml/2006/main">
              <a:ext uri="{FF2B5EF4-FFF2-40B4-BE49-F238E27FC236}">
                <a16:creationId xmlns:a16="http://schemas.microsoft.com/office/drawing/2014/main" id="{A9461DE0-6058-454F-8AF3-2653E670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54425" y="7581900"/>
            <a:ext cx="4953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2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CF</a:t>
            </a:r>
          </a:p>
        </p:txBody>
      </p:sp>
    </p:spTree>
    <p:extLst>
      <p:ext uri="{BB962C8B-B14F-4D97-AF65-F5344CB8AC3E}">
        <p14:creationId xmlns:p14="http://schemas.microsoft.com/office/powerpoint/2010/main" val="13389955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title-8">
            <a:extLst xmlns:a="http://schemas.openxmlformats.org/drawingml/2006/main">
              <a:ext uri="{FF2B5EF4-FFF2-40B4-BE49-F238E27FC236}">
                <a16:creationId xmlns:a16="http://schemas.microsoft.com/office/drawing/2014/main" id="{341AFDA3-5B3D-433B-873B-08BFF8DB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Cronograma do projeto web</a:t>
            </a:r>
          </a:p>
        </p:txBody>
      </p:sp>
      <p:sp>
        <p:nvSpPr>
          <p:cNvPr id="2" name="rule-8">
            <a:extLst xmlns:a="http://schemas.openxmlformats.org/drawingml/2006/main">
              <a:ext uri="{FF2B5EF4-FFF2-40B4-BE49-F238E27FC236}">
                <a16:creationId xmlns:a16="http://schemas.microsoft.com/office/drawing/2014/main" id="{5E48B304-FFD2-459E-855B-F8CBA54EF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E2BC117C-2FBD-4091-8FBE-15351F48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Planejamento de agosto de 2026 a janeiro de 2027</a:t>
            </a:r>
          </a:p>
        </p:txBody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939A1A9D-F0D1-4B8A-8068-04A7B6E8B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33852AD6-10A8-4444-9C18-5A3A0F79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08</a:t>
            </a:r>
          </a:p>
        </p:txBody>
      </p:sp>
      <p:sp>
        <p:nvSpPr>
          <p:cNvPr id="6" name="status-date">
            <a:extLst xmlns:a="http://schemas.openxmlformats.org/drawingml/2006/main">
              <a:ext uri="{FF2B5EF4-FFF2-40B4-BE49-F238E27FC236}">
                <a16:creationId xmlns:a16="http://schemas.microsoft.com/office/drawing/2014/main" id="{D9C4F2FB-6F97-4B24-A34D-31C71238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8858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34754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34754"/>
                </a:solidFill>
                <a:latin typeface="Nimbus Sans"/>
                <a:ea typeface="Nimbus Sans"/>
                <a:cs typeface="Nimbus Sans"/>
              </a:rPr>
              <a:t>SITUAÇÃO EM 09/09/2026</a:t>
            </a:r>
          </a:p>
        </p:txBody>
      </p:sp>
      <p:sp>
        <p:nvSpPr>
          <p:cNvPr id="7" name="month-0">
            <a:extLst xmlns:a="http://schemas.openxmlformats.org/drawingml/2006/main">
              <a:ext uri="{FF2B5EF4-FFF2-40B4-BE49-F238E27FC236}">
                <a16:creationId xmlns:a16="http://schemas.microsoft.com/office/drawing/2014/main" id="{01303287-CCDA-4A55-9D03-8D91366AC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AGO</a:t>
            </a:r>
          </a:p>
        </p:txBody>
      </p:sp>
      <p:sp>
        <p:nvSpPr>
          <p:cNvPr id="8" name="month-grid-0">
            <a:extLst xmlns:a="http://schemas.openxmlformats.org/drawingml/2006/main">
              <a:ext uri="{FF2B5EF4-FFF2-40B4-BE49-F238E27FC236}">
                <a16:creationId xmlns:a16="http://schemas.microsoft.com/office/drawing/2014/main" id="{74757684-9EBB-4113-AC31-91079448E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9" name="month-1">
            <a:extLst xmlns:a="http://schemas.openxmlformats.org/drawingml/2006/main">
              <a:ext uri="{FF2B5EF4-FFF2-40B4-BE49-F238E27FC236}">
                <a16:creationId xmlns:a16="http://schemas.microsoft.com/office/drawing/2014/main" id="{A09697C4-3891-497C-989D-88888965D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SET</a:t>
            </a:r>
          </a:p>
        </p:txBody>
      </p:sp>
      <p:sp>
        <p:nvSpPr>
          <p:cNvPr id="10" name="month-grid-1">
            <a:extLst xmlns:a="http://schemas.openxmlformats.org/drawingml/2006/main">
              <a:ext uri="{FF2B5EF4-FFF2-40B4-BE49-F238E27FC236}">
                <a16:creationId xmlns:a16="http://schemas.microsoft.com/office/drawing/2014/main" id="{B14C04CB-64E8-42C9-8CF0-E55A9594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1" name="month-2">
            <a:extLst xmlns:a="http://schemas.openxmlformats.org/drawingml/2006/main">
              <a:ext uri="{FF2B5EF4-FFF2-40B4-BE49-F238E27FC236}">
                <a16:creationId xmlns:a16="http://schemas.microsoft.com/office/drawing/2014/main" id="{833EB099-16AF-4F84-8EA4-C48E6DD5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OUT</a:t>
            </a:r>
          </a:p>
        </p:txBody>
      </p:sp>
      <p:sp>
        <p:nvSpPr>
          <p:cNvPr id="12" name="month-grid-2">
            <a:extLst xmlns:a="http://schemas.openxmlformats.org/drawingml/2006/main">
              <a:ext uri="{FF2B5EF4-FFF2-40B4-BE49-F238E27FC236}">
                <a16:creationId xmlns:a16="http://schemas.microsoft.com/office/drawing/2014/main" id="{B839F193-D6AB-4AD1-A2CA-676E513E7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3" name="month-3">
            <a:extLst xmlns:a="http://schemas.openxmlformats.org/drawingml/2006/main">
              <a:ext uri="{FF2B5EF4-FFF2-40B4-BE49-F238E27FC236}">
                <a16:creationId xmlns:a16="http://schemas.microsoft.com/office/drawing/2014/main" id="{CBBB3194-09EA-4178-A2B2-A3C380423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NOV</a:t>
            </a:r>
          </a:p>
        </p:txBody>
      </p:sp>
      <p:sp>
        <p:nvSpPr>
          <p:cNvPr id="14" name="month-grid-3">
            <a:extLst xmlns:a="http://schemas.openxmlformats.org/drawingml/2006/main">
              <a:ext uri="{FF2B5EF4-FFF2-40B4-BE49-F238E27FC236}">
                <a16:creationId xmlns:a16="http://schemas.microsoft.com/office/drawing/2014/main" id="{C9368D0A-6B26-4BAD-B37C-444DABCF6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5" name="month-4">
            <a:extLst xmlns:a="http://schemas.openxmlformats.org/drawingml/2006/main">
              <a:ext uri="{FF2B5EF4-FFF2-40B4-BE49-F238E27FC236}">
                <a16:creationId xmlns:a16="http://schemas.microsoft.com/office/drawing/2014/main" id="{0571030E-87D3-45AC-BAE1-04106777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DEZ</a:t>
            </a:r>
          </a:p>
        </p:txBody>
      </p:sp>
      <p:sp>
        <p:nvSpPr>
          <p:cNvPr id="16" name="month-grid-4">
            <a:extLst xmlns:a="http://schemas.openxmlformats.org/drawingml/2006/main">
              <a:ext uri="{FF2B5EF4-FFF2-40B4-BE49-F238E27FC236}">
                <a16:creationId xmlns:a16="http://schemas.microsoft.com/office/drawing/2014/main" id="{B5A6C22F-6F60-4F0E-AA61-30584EFF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7" name="month-5">
            <a:extLst xmlns:a="http://schemas.openxmlformats.org/drawingml/2006/main">
              <a:ext uri="{FF2B5EF4-FFF2-40B4-BE49-F238E27FC236}">
                <a16:creationId xmlns:a16="http://schemas.microsoft.com/office/drawing/2014/main" id="{B4CF5E1A-8630-4FAE-A32F-04C885084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047875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JAN</a:t>
            </a:r>
          </a:p>
        </p:txBody>
      </p:sp>
      <p:sp>
        <p:nvSpPr>
          <p:cNvPr id="18" name="month-grid-5">
            <a:extLst xmlns:a="http://schemas.openxmlformats.org/drawingml/2006/main">
              <a:ext uri="{FF2B5EF4-FFF2-40B4-BE49-F238E27FC236}">
                <a16:creationId xmlns:a16="http://schemas.microsoft.com/office/drawing/2014/main" id="{445E7B99-3D91-48C6-9B34-12B841946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01875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19" name="month-grid-last">
            <a:extLst xmlns:a="http://schemas.openxmlformats.org/drawingml/2006/main">
              <a:ext uri="{FF2B5EF4-FFF2-40B4-BE49-F238E27FC236}">
                <a16:creationId xmlns:a16="http://schemas.microsoft.com/office/drawing/2014/main" id="{33E8C871-DA36-4083-872A-396A8362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0" y="2571750"/>
            <a:ext cx="0" cy="604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D3C8"/>
            </a:solidFill>
            <a:prstDash val="solid"/>
          </a:ln>
        </p:spPr>
      </p:sp>
      <p:sp>
        <p:nvSpPr>
          <p:cNvPr id="20" name="row-name-0">
            <a:extLst xmlns:a="http://schemas.openxmlformats.org/drawingml/2006/main">
              <a:ext uri="{FF2B5EF4-FFF2-40B4-BE49-F238E27FC236}">
                <a16:creationId xmlns:a16="http://schemas.microsoft.com/office/drawing/2014/main" id="{32877D57-87B0-4547-80C6-37A9D369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57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Documentação e requisitos</a:t>
            </a:r>
          </a:p>
        </p:txBody>
      </p:sp>
      <p:sp>
        <p:nvSpPr>
          <p:cNvPr id="21" name="row-line-0">
            <a:extLst xmlns:a="http://schemas.openxmlformats.org/drawingml/2006/main">
              <a:ext uri="{FF2B5EF4-FFF2-40B4-BE49-F238E27FC236}">
                <a16:creationId xmlns:a16="http://schemas.microsoft.com/office/drawing/2014/main" id="{AE60B0D2-F016-4475-B3F1-8F849AFBC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2" name="gantt-0">
            <a:extLst xmlns:a="http://schemas.openxmlformats.org/drawingml/2006/main">
              <a:ext uri="{FF2B5EF4-FFF2-40B4-BE49-F238E27FC236}">
                <a16:creationId xmlns:a16="http://schemas.microsoft.com/office/drawing/2014/main" id="{F8307A79-DD8E-480B-90D0-AADA746FD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2114550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gantt-pct-0">
            <a:extLst xmlns:a="http://schemas.openxmlformats.org/drawingml/2006/main">
              <a:ext uri="{FF2B5EF4-FFF2-40B4-BE49-F238E27FC236}">
                <a16:creationId xmlns:a16="http://schemas.microsoft.com/office/drawing/2014/main" id="{073FD6B7-0899-4D55-B914-2EC1C2F9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0003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80%</a:t>
            </a:r>
          </a:p>
        </p:txBody>
      </p:sp>
      <p:sp>
        <p:nvSpPr>
          <p:cNvPr id="24" name="row-name-1">
            <a:extLst xmlns:a="http://schemas.openxmlformats.org/drawingml/2006/main">
              <a:ext uri="{FF2B5EF4-FFF2-40B4-BE49-F238E27FC236}">
                <a16:creationId xmlns:a16="http://schemas.microsoft.com/office/drawing/2014/main" id="{F316A32A-4F8D-4224-BF6E-6C88EDED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Persona e validação</a:t>
            </a:r>
          </a:p>
        </p:txBody>
      </p:sp>
      <p:sp>
        <p:nvSpPr>
          <p:cNvPr id="25" name="row-line-1">
            <a:extLst xmlns:a="http://schemas.openxmlformats.org/drawingml/2006/main">
              <a:ext uri="{FF2B5EF4-FFF2-40B4-BE49-F238E27FC236}">
                <a16:creationId xmlns:a16="http://schemas.microsoft.com/office/drawing/2014/main" id="{B1E29A45-5B6B-4FBD-9021-D3C3AF115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7672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26" name="gantt-1">
            <a:extLst xmlns:a="http://schemas.openxmlformats.org/drawingml/2006/main">
              <a:ext uri="{FF2B5EF4-FFF2-40B4-BE49-F238E27FC236}">
                <a16:creationId xmlns:a16="http://schemas.microsoft.com/office/drawing/2014/main" id="{56B5E280-3A3B-4BD3-BB80-5FC9F40E3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33800"/>
            <a:ext cx="24669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gantt-pct-1">
            <a:extLst xmlns:a="http://schemas.openxmlformats.org/drawingml/2006/main">
              <a:ext uri="{FF2B5EF4-FFF2-40B4-BE49-F238E27FC236}">
                <a16:creationId xmlns:a16="http://schemas.microsoft.com/office/drawing/2014/main" id="{D529AA75-2B63-49B0-B795-37E0B392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8576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55%</a:t>
            </a:r>
          </a:p>
        </p:txBody>
      </p:sp>
      <p:sp>
        <p:nvSpPr>
          <p:cNvPr id="28" name="row-name-2">
            <a:extLst xmlns:a="http://schemas.openxmlformats.org/drawingml/2006/main">
              <a:ext uri="{FF2B5EF4-FFF2-40B4-BE49-F238E27FC236}">
                <a16:creationId xmlns:a16="http://schemas.microsoft.com/office/drawing/2014/main" id="{9E0553C8-90EE-4492-93AF-163A7E44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720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Trello e mapa mental</a:t>
            </a:r>
          </a:p>
        </p:txBody>
      </p:sp>
      <p:sp>
        <p:nvSpPr>
          <p:cNvPr id="29" name="row-line-2">
            <a:extLst xmlns:a="http://schemas.openxmlformats.org/drawingml/2006/main">
              <a:ext uri="{FF2B5EF4-FFF2-40B4-BE49-F238E27FC236}">
                <a16:creationId xmlns:a16="http://schemas.microsoft.com/office/drawing/2014/main" id="{5C96FD33-23D9-49DB-B434-1F7CFB32A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3397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0" name="gantt-2">
            <a:extLst xmlns:a="http://schemas.openxmlformats.org/drawingml/2006/main">
              <a:ext uri="{FF2B5EF4-FFF2-40B4-BE49-F238E27FC236}">
                <a16:creationId xmlns:a16="http://schemas.microsoft.com/office/drawing/2014/main" id="{ECD1F7EC-54EF-4641-B5E6-DB5C8C1B9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4738" y="4591050"/>
            <a:ext cx="2290763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35A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gantt-pct-2">
            <a:extLst xmlns:a="http://schemas.openxmlformats.org/drawingml/2006/main">
              <a:ext uri="{FF2B5EF4-FFF2-40B4-BE49-F238E27FC236}">
                <a16:creationId xmlns:a16="http://schemas.microsoft.com/office/drawing/2014/main" id="{FB958ED7-EAA6-4723-9B43-9F6747505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7148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35%</a:t>
            </a:r>
          </a:p>
        </p:txBody>
      </p:sp>
      <p:sp>
        <p:nvSpPr>
          <p:cNvPr id="32" name="row-name-3">
            <a:extLst xmlns:a="http://schemas.openxmlformats.org/drawingml/2006/main">
              <a:ext uri="{FF2B5EF4-FFF2-40B4-BE49-F238E27FC236}">
                <a16:creationId xmlns:a16="http://schemas.microsoft.com/office/drawing/2014/main" id="{ADC4988E-E1BE-465F-8623-02EB7E32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292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Protótipo UX/UI</a:t>
            </a:r>
          </a:p>
        </p:txBody>
      </p:sp>
      <p:sp>
        <p:nvSpPr>
          <p:cNvPr id="33" name="row-line-3">
            <a:extLst xmlns:a="http://schemas.openxmlformats.org/drawingml/2006/main">
              <a:ext uri="{FF2B5EF4-FFF2-40B4-BE49-F238E27FC236}">
                <a16:creationId xmlns:a16="http://schemas.microsoft.com/office/drawing/2014/main" id="{C51CF99C-C6D3-47FC-B3F5-2EE02845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99122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4" name="gantt-3">
            <a:extLst xmlns:a="http://schemas.openxmlformats.org/drawingml/2006/main">
              <a:ext uri="{FF2B5EF4-FFF2-40B4-BE49-F238E27FC236}">
                <a16:creationId xmlns:a16="http://schemas.microsoft.com/office/drawing/2014/main" id="{06E6673F-3D31-42B6-80CA-B033D72B7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5448300"/>
            <a:ext cx="317182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gantt-pct-3">
            <a:extLst xmlns:a="http://schemas.openxmlformats.org/drawingml/2006/main">
              <a:ext uri="{FF2B5EF4-FFF2-40B4-BE49-F238E27FC236}">
                <a16:creationId xmlns:a16="http://schemas.microsoft.com/office/drawing/2014/main" id="{3C10B3B5-9254-45FC-B509-5D5B80E75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725" y="55721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10%</a:t>
            </a:r>
          </a:p>
        </p:txBody>
      </p:sp>
      <p:sp>
        <p:nvSpPr>
          <p:cNvPr id="36" name="row-name-4">
            <a:extLst xmlns:a="http://schemas.openxmlformats.org/drawingml/2006/main">
              <a:ext uri="{FF2B5EF4-FFF2-40B4-BE49-F238E27FC236}">
                <a16:creationId xmlns:a16="http://schemas.microsoft.com/office/drawing/2014/main" id="{9E645A0B-0703-476A-AB94-41C91880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865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Back-end e API</a:t>
            </a:r>
          </a:p>
        </p:txBody>
      </p:sp>
      <p:sp>
        <p:nvSpPr>
          <p:cNvPr id="37" name="row-line-4">
            <a:extLst xmlns:a="http://schemas.openxmlformats.org/drawingml/2006/main">
              <a:ext uri="{FF2B5EF4-FFF2-40B4-BE49-F238E27FC236}">
                <a16:creationId xmlns:a16="http://schemas.microsoft.com/office/drawing/2014/main" id="{E3EF3F92-D282-4D63-B25A-73359643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84847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38" name="gantt-4">
            <a:extLst xmlns:a="http://schemas.openxmlformats.org/drawingml/2006/main">
              <a:ext uri="{FF2B5EF4-FFF2-40B4-BE49-F238E27FC236}">
                <a16:creationId xmlns:a16="http://schemas.microsoft.com/office/drawing/2014/main" id="{26F25CD1-C1A2-4E6E-A0AF-7AEF35CB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05550"/>
            <a:ext cx="3876675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gantt-pct-4">
            <a:extLst xmlns:a="http://schemas.openxmlformats.org/drawingml/2006/main">
              <a:ext uri="{FF2B5EF4-FFF2-40B4-BE49-F238E27FC236}">
                <a16:creationId xmlns:a16="http://schemas.microsoft.com/office/drawing/2014/main" id="{A7E70A3D-E400-4110-ABFD-4549F250B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68275" y="64293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0%</a:t>
            </a:r>
          </a:p>
        </p:txBody>
      </p:sp>
      <p:sp>
        <p:nvSpPr>
          <p:cNvPr id="40" name="row-name-5">
            <a:extLst xmlns:a="http://schemas.openxmlformats.org/drawingml/2006/main">
              <a:ext uri="{FF2B5EF4-FFF2-40B4-BE49-F238E27FC236}">
                <a16:creationId xmlns:a16="http://schemas.microsoft.com/office/drawing/2014/main" id="{7C4BE3D1-9CC5-4534-B1DD-3FE6E4D19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Front-end e integração</a:t>
            </a:r>
          </a:p>
        </p:txBody>
      </p:sp>
      <p:sp>
        <p:nvSpPr>
          <p:cNvPr id="41" name="row-line-5">
            <a:extLst xmlns:a="http://schemas.openxmlformats.org/drawingml/2006/main">
              <a:ext uri="{FF2B5EF4-FFF2-40B4-BE49-F238E27FC236}">
                <a16:creationId xmlns:a16="http://schemas.microsoft.com/office/drawing/2014/main" id="{C26E5994-B755-4870-816B-A66BE3AB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70572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42" name="gantt-5">
            <a:extLst xmlns:a="http://schemas.openxmlformats.org/drawingml/2006/main">
              <a:ext uri="{FF2B5EF4-FFF2-40B4-BE49-F238E27FC236}">
                <a16:creationId xmlns:a16="http://schemas.microsoft.com/office/drawing/2014/main" id="{D1695C9D-61D8-4249-963D-6A450823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2775" y="7162800"/>
            <a:ext cx="4933950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6D70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gantt-pct-5">
            <a:extLst xmlns:a="http://schemas.openxmlformats.org/drawingml/2006/main">
              <a:ext uri="{FF2B5EF4-FFF2-40B4-BE49-F238E27FC236}">
                <a16:creationId xmlns:a16="http://schemas.microsoft.com/office/drawing/2014/main" id="{13DEA3DE-8221-46FA-998F-A1CB4A58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82825" y="728662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0%</a:t>
            </a:r>
          </a:p>
        </p:txBody>
      </p:sp>
      <p:sp>
        <p:nvSpPr>
          <p:cNvPr id="44" name="row-name-6">
            <a:extLst xmlns:a="http://schemas.openxmlformats.org/drawingml/2006/main">
              <a:ext uri="{FF2B5EF4-FFF2-40B4-BE49-F238E27FC236}">
                <a16:creationId xmlns:a16="http://schemas.microsoft.com/office/drawing/2014/main" id="{0624BC3C-0880-4086-B3F0-C192023C9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00100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Testes, artigo e entrega</a:t>
            </a:r>
          </a:p>
        </p:txBody>
      </p:sp>
      <p:sp>
        <p:nvSpPr>
          <p:cNvPr id="45" name="row-line-6">
            <a:extLst xmlns:a="http://schemas.openxmlformats.org/drawingml/2006/main">
              <a:ext uri="{FF2B5EF4-FFF2-40B4-BE49-F238E27FC236}">
                <a16:creationId xmlns:a16="http://schemas.microsoft.com/office/drawing/2014/main" id="{60F9D2AA-D9D8-46AE-95E2-83CD6E9D1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562975"/>
            <a:ext cx="15906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DED2"/>
            </a:solidFill>
            <a:prstDash val="solid"/>
          </a:ln>
        </p:spPr>
      </p:sp>
      <p:sp>
        <p:nvSpPr>
          <p:cNvPr id="46" name="gantt-6">
            <a:extLst xmlns:a="http://schemas.openxmlformats.org/drawingml/2006/main">
              <a:ext uri="{FF2B5EF4-FFF2-40B4-BE49-F238E27FC236}">
                <a16:creationId xmlns:a16="http://schemas.microsoft.com/office/drawing/2014/main" id="{90916D2C-D009-40A7-BE8B-C136A144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8020050"/>
            <a:ext cx="3524250" cy="438150"/>
          </a:xfrm>
          <a:prstGeom xmlns:a="http://schemas.openxmlformats.org/drawingml/2006/main" prst="roundRect">
            <a:avLst>
              <a:gd name="adj" fmla="val 47826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gantt-pct-6">
            <a:extLst xmlns:a="http://schemas.openxmlformats.org/drawingml/2006/main">
              <a:ext uri="{FF2B5EF4-FFF2-40B4-BE49-F238E27FC236}">
                <a16:creationId xmlns:a16="http://schemas.microsoft.com/office/drawing/2014/main" id="{AE00AD44-81D3-44EE-8D12-02B1A890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0100" y="8143875"/>
            <a:ext cx="590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15%</a:t>
            </a:r>
          </a:p>
        </p:txBody>
      </p:sp>
      <p:sp>
        <p:nvSpPr>
          <p:cNvPr id="48" name="schedule-note">
            <a:extLst xmlns:a="http://schemas.openxmlformats.org/drawingml/2006/main">
              <a:ext uri="{FF2B5EF4-FFF2-40B4-BE49-F238E27FC236}">
                <a16:creationId xmlns:a16="http://schemas.microsoft.com/office/drawing/2014/main" id="{B4786D8A-4C93-4C5F-8A18-F6A2F34CD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8953500"/>
            <a:ext cx="1428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As porcentagens representam o andamento inicial e devem ser atualizadas no Trello a cada revisão semanal.</a:t>
            </a:r>
          </a:p>
        </p:txBody>
      </p:sp>
    </p:spTree>
    <p:extLst>
      <p:ext uri="{BB962C8B-B14F-4D97-AF65-F5344CB8AC3E}">
        <p14:creationId xmlns:p14="http://schemas.microsoft.com/office/powerpoint/2010/main" val="188384385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1769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title-9">
            <a:extLst xmlns:a="http://schemas.openxmlformats.org/drawingml/2006/main">
              <a:ext uri="{FF2B5EF4-FFF2-40B4-BE49-F238E27FC236}">
                <a16:creationId xmlns:a16="http://schemas.microsoft.com/office/drawing/2014/main" id="{C482C725-A88D-4D10-8823-5DD1B9FFD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Distribuição de papéis no grupo</a:t>
            </a:r>
          </a:p>
        </p:txBody>
      </p:sp>
      <p:sp>
        <p:nvSpPr>
          <p:cNvPr id="2" name="rule-9">
            <a:extLst xmlns:a="http://schemas.openxmlformats.org/drawingml/2006/main">
              <a:ext uri="{FF2B5EF4-FFF2-40B4-BE49-F238E27FC236}">
                <a16:creationId xmlns:a16="http://schemas.microsoft.com/office/drawing/2014/main" id="{B79C4CB9-D8D2-4B30-A0CC-F3FAE1323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E6FB2059-F743-49FE-87D7-692175B0E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rPr>
              <a:t>Proposta inicial sujeita à confirmação da equipe</a:t>
            </a:r>
          </a:p>
        </p:txBody>
      </p: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0B9FB7A9-6D5D-4BA0-9D86-04354136A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982C3F54-4A1C-4D3F-892C-50D9D0F4B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09</a:t>
            </a:r>
          </a:p>
        </p:txBody>
      </p:sp>
      <p:sp>
        <p:nvSpPr>
          <p:cNvPr id="6" name="role-card-0">
            <a:extLst xmlns:a="http://schemas.openxmlformats.org/drawingml/2006/main">
              <a:ext uri="{FF2B5EF4-FFF2-40B4-BE49-F238E27FC236}">
                <a16:creationId xmlns:a16="http://schemas.microsoft.com/office/drawing/2014/main" id="{2BF3EA41-33C1-4312-B069-4FFC35E6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38375"/>
            <a:ext cx="52387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7" name="role-avatar-0">
            <a:extLst xmlns:a="http://schemas.openxmlformats.org/drawingml/2006/main">
              <a:ext uri="{FF2B5EF4-FFF2-40B4-BE49-F238E27FC236}">
                <a16:creationId xmlns:a16="http://schemas.microsoft.com/office/drawing/2014/main" id="{BF695335-5325-4740-8DFC-8FEE9D5B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05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role-initials-0">
            <a:extLst xmlns:a="http://schemas.openxmlformats.org/drawingml/2006/main">
              <a:ext uri="{FF2B5EF4-FFF2-40B4-BE49-F238E27FC236}">
                <a16:creationId xmlns:a16="http://schemas.microsoft.com/office/drawing/2014/main" id="{BBF03E66-1945-4F24-9BA7-8FE208741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908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CF</a:t>
            </a:r>
          </a:p>
        </p:txBody>
      </p:sp>
      <p:sp>
        <p:nvSpPr>
          <p:cNvPr id="9" name="role-name-0">
            <a:extLst xmlns:a="http://schemas.openxmlformats.org/drawingml/2006/main">
              <a:ext uri="{FF2B5EF4-FFF2-40B4-BE49-F238E27FC236}">
                <a16:creationId xmlns:a16="http://schemas.microsoft.com/office/drawing/2014/main" id="{463C0D71-824F-4A2E-AF11-A7201F629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Caíque Piasecki Fadel</a:t>
            </a:r>
          </a:p>
        </p:txBody>
      </p:sp>
      <p:sp>
        <p:nvSpPr>
          <p:cNvPr id="10" name="role-ra-0">
            <a:extLst xmlns:a="http://schemas.openxmlformats.org/drawingml/2006/main">
              <a:ext uri="{FF2B5EF4-FFF2-40B4-BE49-F238E27FC236}">
                <a16:creationId xmlns:a16="http://schemas.microsoft.com/office/drawing/2014/main" id="{B483A61A-E5E7-48FB-A9C8-FC3689B85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095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RA 252057</a:t>
            </a:r>
          </a:p>
        </p:txBody>
      </p:sp>
      <p:sp>
        <p:nvSpPr>
          <p:cNvPr id="11" name="role-title-0">
            <a:extLst xmlns:a="http://schemas.openxmlformats.org/drawingml/2006/main">
              <a:ext uri="{FF2B5EF4-FFF2-40B4-BE49-F238E27FC236}">
                <a16:creationId xmlns:a16="http://schemas.microsoft.com/office/drawing/2014/main" id="{280962B2-EB92-42A7-963F-63D613889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19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Liderança e gestão</a:t>
            </a:r>
          </a:p>
        </p:txBody>
      </p:sp>
      <p:sp>
        <p:nvSpPr>
          <p:cNvPr id="12" name="role-desc-0">
            <a:extLst xmlns:a="http://schemas.openxmlformats.org/drawingml/2006/main">
              <a:ext uri="{FF2B5EF4-FFF2-40B4-BE49-F238E27FC236}">
                <a16:creationId xmlns:a16="http://schemas.microsoft.com/office/drawing/2014/main" id="{31CC2C5C-E8B2-4C26-94F7-21DB719C4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8622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Organiza prazos, integra entregas e conduz as revisões com o grupo.</a:t>
            </a:r>
          </a:p>
        </p:txBody>
      </p:sp>
      <p:sp>
        <p:nvSpPr>
          <p:cNvPr id="13" name="role-card-1">
            <a:extLst xmlns:a="http://schemas.openxmlformats.org/drawingml/2006/main">
              <a:ext uri="{FF2B5EF4-FFF2-40B4-BE49-F238E27FC236}">
                <a16:creationId xmlns:a16="http://schemas.microsoft.com/office/drawing/2014/main" id="{1DDFDC78-DA89-460C-806B-8A438A50C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238375"/>
            <a:ext cx="52387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14" name="role-avatar-1">
            <a:extLst xmlns:a="http://schemas.openxmlformats.org/drawingml/2006/main">
              <a:ext uri="{FF2B5EF4-FFF2-40B4-BE49-F238E27FC236}">
                <a16:creationId xmlns:a16="http://schemas.microsoft.com/office/drawing/2014/main" id="{21D9D711-1114-4840-989B-5EA30807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505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ole-initials-1">
            <a:extLst xmlns:a="http://schemas.openxmlformats.org/drawingml/2006/main">
              <a:ext uri="{FF2B5EF4-FFF2-40B4-BE49-F238E27FC236}">
                <a16:creationId xmlns:a16="http://schemas.microsoft.com/office/drawing/2014/main" id="{9A8C28C9-4BFA-4A75-98E7-9DE9BFA81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7908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GH</a:t>
            </a:r>
          </a:p>
        </p:txBody>
      </p:sp>
      <p:sp>
        <p:nvSpPr>
          <p:cNvPr id="16" name="role-name-1">
            <a:extLst xmlns:a="http://schemas.openxmlformats.org/drawingml/2006/main">
              <a:ext uri="{FF2B5EF4-FFF2-40B4-BE49-F238E27FC236}">
                <a16:creationId xmlns:a16="http://schemas.microsoft.com/office/drawing/2014/main" id="{D518FBD0-BD78-4C9A-A6F6-48C97D6A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Gabriel Henrique Fernandes Torres</a:t>
            </a:r>
          </a:p>
        </p:txBody>
      </p:sp>
      <p:sp>
        <p:nvSpPr>
          <p:cNvPr id="17" name="role-ra-1">
            <a:extLst xmlns:a="http://schemas.openxmlformats.org/drawingml/2006/main">
              <a:ext uri="{FF2B5EF4-FFF2-40B4-BE49-F238E27FC236}">
                <a16:creationId xmlns:a16="http://schemas.microsoft.com/office/drawing/2014/main" id="{4B756861-A3B3-447D-8A51-3D8E161D8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95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RA 251157</a:t>
            </a:r>
          </a:p>
        </p:txBody>
      </p:sp>
      <p:sp>
        <p:nvSpPr>
          <p:cNvPr id="18" name="role-title-1">
            <a:extLst xmlns:a="http://schemas.openxmlformats.org/drawingml/2006/main">
              <a:ext uri="{FF2B5EF4-FFF2-40B4-BE49-F238E27FC236}">
                <a16:creationId xmlns:a16="http://schemas.microsoft.com/office/drawing/2014/main" id="{5CDF6B1F-8083-4278-86E3-AC7797B80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3619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Back-end, persona e artigo</a:t>
            </a:r>
          </a:p>
        </p:txBody>
      </p:sp>
      <p:sp>
        <p:nvSpPr>
          <p:cNvPr id="19" name="role-desc-1">
            <a:extLst xmlns:a="http://schemas.openxmlformats.org/drawingml/2006/main">
              <a:ext uri="{FF2B5EF4-FFF2-40B4-BE49-F238E27FC236}">
                <a16:creationId xmlns:a16="http://schemas.microsoft.com/office/drawing/2014/main" id="{7CA1F3BB-C088-4178-B687-CEDC97DF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408622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Responsável pela API, regras de negócio, persona e produção do artigo.</a:t>
            </a:r>
          </a:p>
        </p:txBody>
      </p:sp>
      <p:sp>
        <p:nvSpPr>
          <p:cNvPr id="20" name="role-card-2">
            <a:extLst xmlns:a="http://schemas.openxmlformats.org/drawingml/2006/main">
              <a:ext uri="{FF2B5EF4-FFF2-40B4-BE49-F238E27FC236}">
                <a16:creationId xmlns:a16="http://schemas.microsoft.com/office/drawing/2014/main" id="{A3DDAD6B-F1D9-4724-9757-8E51943ED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2238375"/>
            <a:ext cx="52387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1" name="role-avatar-2">
            <a:extLst xmlns:a="http://schemas.openxmlformats.org/drawingml/2006/main">
              <a:ext uri="{FF2B5EF4-FFF2-40B4-BE49-F238E27FC236}">
                <a16:creationId xmlns:a16="http://schemas.microsoft.com/office/drawing/2014/main" id="{5929E2B0-C4FB-4853-B7F9-A9725F3F8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50507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le-initials-2">
            <a:extLst xmlns:a="http://schemas.openxmlformats.org/drawingml/2006/main">
              <a:ext uri="{FF2B5EF4-FFF2-40B4-BE49-F238E27FC236}">
                <a16:creationId xmlns:a16="http://schemas.microsoft.com/office/drawing/2014/main" id="{6502394F-C7B7-4FE9-8381-642E6838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279082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JA</a:t>
            </a:r>
          </a:p>
        </p:txBody>
      </p:sp>
      <p:sp>
        <p:nvSpPr>
          <p:cNvPr id="23" name="role-name-2">
            <a:extLst xmlns:a="http://schemas.openxmlformats.org/drawingml/2006/main">
              <a:ext uri="{FF2B5EF4-FFF2-40B4-BE49-F238E27FC236}">
                <a16:creationId xmlns:a16="http://schemas.microsoft.com/office/drawing/2014/main" id="{AC71EB8E-2561-45FE-826A-AAAB7636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247650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João Pedro Acquati de Amorim</a:t>
            </a:r>
          </a:p>
        </p:txBody>
      </p:sp>
      <p:sp>
        <p:nvSpPr>
          <p:cNvPr id="24" name="role-ra-2">
            <a:extLst xmlns:a="http://schemas.openxmlformats.org/drawingml/2006/main">
              <a:ext uri="{FF2B5EF4-FFF2-40B4-BE49-F238E27FC236}">
                <a16:creationId xmlns:a16="http://schemas.microsoft.com/office/drawing/2014/main" id="{080F987E-639A-4C4B-AE5D-585309F6F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0" y="309562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RA 248150</a:t>
            </a:r>
          </a:p>
        </p:txBody>
      </p:sp>
      <p:sp>
        <p:nvSpPr>
          <p:cNvPr id="25" name="role-title-2">
            <a:extLst xmlns:a="http://schemas.openxmlformats.org/drawingml/2006/main">
              <a:ext uri="{FF2B5EF4-FFF2-40B4-BE49-F238E27FC236}">
                <a16:creationId xmlns:a16="http://schemas.microsoft.com/office/drawing/2014/main" id="{F893CD0E-C900-451E-99E8-77BCD9A92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361950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Front-end web</a:t>
            </a:r>
          </a:p>
        </p:txBody>
      </p:sp>
      <p:sp>
        <p:nvSpPr>
          <p:cNvPr id="26" name="role-desc-2">
            <a:extLst xmlns:a="http://schemas.openxmlformats.org/drawingml/2006/main">
              <a:ext uri="{FF2B5EF4-FFF2-40B4-BE49-F238E27FC236}">
                <a16:creationId xmlns:a16="http://schemas.microsoft.com/office/drawing/2014/main" id="{662B0D9D-B7DA-45FB-9FFB-369C1C65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6800" y="408622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Proposta: desenvolver interfaces e integrar as telas aos serviços do sistema.</a:t>
            </a:r>
          </a:p>
        </p:txBody>
      </p:sp>
      <p:sp>
        <p:nvSpPr>
          <p:cNvPr id="27" name="role-card-3">
            <a:extLst xmlns:a="http://schemas.openxmlformats.org/drawingml/2006/main">
              <a:ext uri="{FF2B5EF4-FFF2-40B4-BE49-F238E27FC236}">
                <a16:creationId xmlns:a16="http://schemas.microsoft.com/office/drawing/2014/main" id="{94A21349-9853-41C5-80B4-963F8EA3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762625"/>
            <a:ext cx="52387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28" name="role-avatar-3">
            <a:extLst xmlns:a="http://schemas.openxmlformats.org/drawingml/2006/main">
              <a:ext uri="{FF2B5EF4-FFF2-40B4-BE49-F238E27FC236}">
                <a16:creationId xmlns:a16="http://schemas.microsoft.com/office/drawing/2014/main" id="{35BFC7C4-1F2E-4F67-B2D0-E50F505D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0293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ole-initials-3">
            <a:extLst xmlns:a="http://schemas.openxmlformats.org/drawingml/2006/main">
              <a:ext uri="{FF2B5EF4-FFF2-40B4-BE49-F238E27FC236}">
                <a16:creationId xmlns:a16="http://schemas.microsoft.com/office/drawing/2014/main" id="{2252B097-9074-4B72-A4C4-4EA4C7720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3150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PA</a:t>
            </a:r>
          </a:p>
        </p:txBody>
      </p:sp>
      <p:sp>
        <p:nvSpPr>
          <p:cNvPr id="30" name="role-name-3">
            <a:extLst xmlns:a="http://schemas.openxmlformats.org/drawingml/2006/main">
              <a:ext uri="{FF2B5EF4-FFF2-40B4-BE49-F238E27FC236}">
                <a16:creationId xmlns:a16="http://schemas.microsoft.com/office/drawing/2014/main" id="{C07053C5-466B-4043-9C1F-6A6BDC9B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000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Pedro Henrique Paulino de Almeida</a:t>
            </a:r>
          </a:p>
        </p:txBody>
      </p:sp>
      <p:sp>
        <p:nvSpPr>
          <p:cNvPr id="31" name="role-ra-3">
            <a:extLst xmlns:a="http://schemas.openxmlformats.org/drawingml/2006/main">
              <a:ext uri="{FF2B5EF4-FFF2-40B4-BE49-F238E27FC236}">
                <a16:creationId xmlns:a16="http://schemas.microsoft.com/office/drawing/2014/main" id="{9FE5D95E-1304-4685-8FD1-BB67277C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619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RA 250907</a:t>
            </a:r>
          </a:p>
        </p:txBody>
      </p:sp>
      <p:sp>
        <p:nvSpPr>
          <p:cNvPr id="32" name="role-title-3">
            <a:extLst xmlns:a="http://schemas.openxmlformats.org/drawingml/2006/main">
              <a:ext uri="{FF2B5EF4-FFF2-40B4-BE49-F238E27FC236}">
                <a16:creationId xmlns:a16="http://schemas.microsoft.com/office/drawing/2014/main" id="{0B7E59E4-7D51-40D5-9D74-F013B019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143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UX/UI, Trello e testes</a:t>
            </a:r>
          </a:p>
        </p:txBody>
      </p:sp>
      <p:sp>
        <p:nvSpPr>
          <p:cNvPr id="33" name="role-desc-3">
            <a:extLst xmlns:a="http://schemas.openxmlformats.org/drawingml/2006/main">
              <a:ext uri="{FF2B5EF4-FFF2-40B4-BE49-F238E27FC236}">
                <a16:creationId xmlns:a16="http://schemas.microsoft.com/office/drawing/2014/main" id="{8D42C3C4-688C-4771-A7EC-006A0082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761047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Proposta: protótipos, organização visual, acompanhamento e testes de usabilidade.</a:t>
            </a:r>
          </a:p>
        </p:txBody>
      </p:sp>
      <p:sp>
        <p:nvSpPr>
          <p:cNvPr id="34" name="role-card-4">
            <a:extLst xmlns:a="http://schemas.openxmlformats.org/drawingml/2006/main">
              <a:ext uri="{FF2B5EF4-FFF2-40B4-BE49-F238E27FC236}">
                <a16:creationId xmlns:a16="http://schemas.microsoft.com/office/drawing/2014/main" id="{392139BF-CF07-448C-8200-13009E4FF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62625"/>
            <a:ext cx="5238750" cy="2952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2F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5" name="role-avatar-4">
            <a:extLst xmlns:a="http://schemas.openxmlformats.org/drawingml/2006/main">
              <a:ext uri="{FF2B5EF4-FFF2-40B4-BE49-F238E27FC236}">
                <a16:creationId xmlns:a16="http://schemas.microsoft.com/office/drawing/2014/main" id="{A9A4387D-5CC6-41F0-9764-53AA1E69D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029325"/>
            <a:ext cx="914400" cy="914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role-initials-4">
            <a:extLst xmlns:a="http://schemas.openxmlformats.org/drawingml/2006/main">
              <a:ext uri="{FF2B5EF4-FFF2-40B4-BE49-F238E27FC236}">
                <a16:creationId xmlns:a16="http://schemas.microsoft.com/office/drawing/2014/main" id="{5A23CE76-FEE2-4BC6-8A08-7F67DE83D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315075"/>
            <a:ext cx="914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+1</a:t>
            </a:r>
          </a:p>
        </p:txBody>
      </p:sp>
      <p:sp>
        <p:nvSpPr>
          <p:cNvPr id="37" name="role-name-4">
            <a:extLst xmlns:a="http://schemas.openxmlformats.org/drawingml/2006/main">
              <a:ext uri="{FF2B5EF4-FFF2-40B4-BE49-F238E27FC236}">
                <a16:creationId xmlns:a16="http://schemas.microsoft.com/office/drawing/2014/main" id="{156D7117-4954-4285-9F23-F603CF587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000750"/>
            <a:ext cx="342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Vaga em aberto</a:t>
            </a:r>
          </a:p>
        </p:txBody>
      </p:sp>
      <p:sp>
        <p:nvSpPr>
          <p:cNvPr id="38" name="role-ra-4">
            <a:extLst xmlns:a="http://schemas.openxmlformats.org/drawingml/2006/main">
              <a:ext uri="{FF2B5EF4-FFF2-40B4-BE49-F238E27FC236}">
                <a16:creationId xmlns:a16="http://schemas.microsoft.com/office/drawing/2014/main" id="{3EDF7515-E616-428E-BCBD-E5EB2034A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6198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0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1 integrante</a:t>
            </a:r>
          </a:p>
        </p:txBody>
      </p:sp>
      <p:sp>
        <p:nvSpPr>
          <p:cNvPr id="39" name="role-title-4">
            <a:extLst xmlns:a="http://schemas.openxmlformats.org/drawingml/2006/main">
              <a:ext uri="{FF2B5EF4-FFF2-40B4-BE49-F238E27FC236}">
                <a16:creationId xmlns:a16="http://schemas.microsoft.com/office/drawing/2014/main" id="{8C356CEE-FEC1-46E1-B6E6-ABAE96F95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1437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Mobile e apoio técnico</a:t>
            </a:r>
          </a:p>
        </p:txBody>
      </p:sp>
      <p:sp>
        <p:nvSpPr>
          <p:cNvPr id="40" name="role-desc-4">
            <a:extLst xmlns:a="http://schemas.openxmlformats.org/drawingml/2006/main">
              <a:ext uri="{FF2B5EF4-FFF2-40B4-BE49-F238E27FC236}">
                <a16:creationId xmlns:a16="http://schemas.microsoft.com/office/drawing/2014/main" id="{794186E9-BBA6-49B2-92C9-A8F5C57F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7610475"/>
            <a:ext cx="4572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42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Papel sugerido para apoiar o aplicativo, os testes e a integração futura.</a:t>
            </a:r>
          </a:p>
        </p:txBody>
      </p:sp>
    </p:spTree>
    <p:extLst>
      <p:ext uri="{BB962C8B-B14F-4D97-AF65-F5344CB8AC3E}">
        <p14:creationId xmlns:p14="http://schemas.microsoft.com/office/powerpoint/2010/main" val="859276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2F375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title-10">
            <a:extLst xmlns:a="http://schemas.openxmlformats.org/drawingml/2006/main">
              <a:ext uri="{FF2B5EF4-FFF2-40B4-BE49-F238E27FC236}">
                <a16:creationId xmlns:a16="http://schemas.microsoft.com/office/drawing/2014/main" id="{D99B2839-CCD1-44F9-8381-3CB0D4585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Lean Canvas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3C6C866A-8051-4C80-9AC3-44C4174B5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5802FE28-5577-45E7-815A-0E628FB0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D8E2FF"/>
                </a:solidFill>
                <a:latin typeface="Nimbus Sans"/>
                <a:ea typeface="Nimbus Sans"/>
                <a:cs typeface="Nimbus Sans"/>
              </a:rPr>
              <a:t>Modelo de negócio inicial  •  versão 0.1  •  09/09/2026</a:t>
            </a:r>
          </a:p>
        </p:txBody>
      </p: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ABD04E27-7E19-4C2B-B191-F58063656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2F93AE4F-B585-432D-A5DB-6DB7B5237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CBD5E1"/>
                </a:solidFill>
                <a:latin typeface="Nimbus Sans"/>
                <a:ea typeface="Nimbus Sans"/>
                <a:cs typeface="Nimbus Sans"/>
              </a:rPr>
              <a:t>10</a:t>
            </a:r>
          </a:p>
        </p:txBody>
      </p:sp>
      <p:sp>
        <p:nvSpPr>
          <p:cNvPr id="6" name="lean-cell-0">
            <a:extLst xmlns:a="http://schemas.openxmlformats.org/drawingml/2006/main">
              <a:ext uri="{FF2B5EF4-FFF2-40B4-BE49-F238E27FC236}">
                <a16:creationId xmlns:a16="http://schemas.microsoft.com/office/drawing/2014/main" id="{BE934B74-FB93-47AD-B171-64747BE36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4787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7" name="lean-accent-0">
            <a:extLst xmlns:a="http://schemas.openxmlformats.org/drawingml/2006/main">
              <a:ext uri="{FF2B5EF4-FFF2-40B4-BE49-F238E27FC236}">
                <a16:creationId xmlns:a16="http://schemas.microsoft.com/office/drawing/2014/main" id="{E0F1ED4D-EC16-43A5-84FC-21181E071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3837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lean-title-0">
            <a:extLst xmlns:a="http://schemas.openxmlformats.org/drawingml/2006/main">
              <a:ext uri="{FF2B5EF4-FFF2-40B4-BE49-F238E27FC236}">
                <a16:creationId xmlns:a16="http://schemas.microsoft.com/office/drawing/2014/main" id="{30659CCD-19B7-4C55-A78D-B8C3C386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2193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Problema</a:t>
            </a:r>
          </a:p>
        </p:txBody>
      </p:sp>
      <p:sp>
        <p:nvSpPr>
          <p:cNvPr id="9" name="lean-body-0">
            <a:extLst xmlns:a="http://schemas.openxmlformats.org/drawingml/2006/main">
              <a:ext uri="{FF2B5EF4-FFF2-40B4-BE49-F238E27FC236}">
                <a16:creationId xmlns:a16="http://schemas.microsoft.com/office/drawing/2014/main" id="{52971D8E-7F7D-4705-88FD-926288344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7177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Informação local fragmentada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Dados desatualizados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Baixa descoberta de pequenos parceiros</a:t>
            </a:r>
          </a:p>
        </p:txBody>
      </p:sp>
      <p:sp>
        <p:nvSpPr>
          <p:cNvPr id="10" name="lean-cell-1">
            <a:extLst xmlns:a="http://schemas.openxmlformats.org/drawingml/2006/main">
              <a:ext uri="{FF2B5EF4-FFF2-40B4-BE49-F238E27FC236}">
                <a16:creationId xmlns:a16="http://schemas.microsoft.com/office/drawing/2014/main" id="{A71FC15A-5DE3-431B-AFA2-70EAAEA3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11" name="lean-accent-1">
            <a:extLst xmlns:a="http://schemas.openxmlformats.org/drawingml/2006/main">
              <a:ext uri="{FF2B5EF4-FFF2-40B4-BE49-F238E27FC236}">
                <a16:creationId xmlns:a16="http://schemas.microsoft.com/office/drawing/2014/main" id="{E395D4A0-98C3-44EE-9007-9AE6CFE3D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lean-title-1">
            <a:extLst xmlns:a="http://schemas.openxmlformats.org/drawingml/2006/main">
              <a:ext uri="{FF2B5EF4-FFF2-40B4-BE49-F238E27FC236}">
                <a16:creationId xmlns:a16="http://schemas.microsoft.com/office/drawing/2014/main" id="{9FB212E0-F08B-4B64-B788-809C7924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193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Solução</a:t>
            </a:r>
          </a:p>
        </p:txBody>
      </p:sp>
      <p:sp>
        <p:nvSpPr>
          <p:cNvPr id="13" name="lean-body-1">
            <a:extLst xmlns:a="http://schemas.openxmlformats.org/drawingml/2006/main">
              <a:ext uri="{FF2B5EF4-FFF2-40B4-BE49-F238E27FC236}">
                <a16:creationId xmlns:a16="http://schemas.microsoft.com/office/drawing/2014/main" id="{C09C1EEA-433D-472D-A50B-B2364F26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77177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Mapa e lista de opções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Filtros por contexto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Painel para eventos e promoções</a:t>
            </a:r>
          </a:p>
        </p:txBody>
      </p:sp>
      <p:sp>
        <p:nvSpPr>
          <p:cNvPr id="14" name="lean-cell-2">
            <a:extLst xmlns:a="http://schemas.openxmlformats.org/drawingml/2006/main">
              <a:ext uri="{FF2B5EF4-FFF2-40B4-BE49-F238E27FC236}">
                <a16:creationId xmlns:a16="http://schemas.microsoft.com/office/drawing/2014/main" id="{20418500-3CC0-4C1D-9CEB-0A8E9DED3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204787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15" name="lean-accent-2">
            <a:extLst xmlns:a="http://schemas.openxmlformats.org/drawingml/2006/main">
              <a:ext uri="{FF2B5EF4-FFF2-40B4-BE49-F238E27FC236}">
                <a16:creationId xmlns:a16="http://schemas.microsoft.com/office/drawing/2014/main" id="{8FA33F0D-5A81-4707-BAB6-CEDCC4531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223837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lean-title-2">
            <a:extLst xmlns:a="http://schemas.openxmlformats.org/drawingml/2006/main">
              <a:ext uri="{FF2B5EF4-FFF2-40B4-BE49-F238E27FC236}">
                <a16:creationId xmlns:a16="http://schemas.microsoft.com/office/drawing/2014/main" id="{59735781-0918-4709-B33A-78BA9734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221932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Proposta de valor</a:t>
            </a:r>
          </a:p>
        </p:txBody>
      </p:sp>
      <p:sp>
        <p:nvSpPr>
          <p:cNvPr id="17" name="lean-body-2">
            <a:extLst xmlns:a="http://schemas.openxmlformats.org/drawingml/2006/main">
              <a:ext uri="{FF2B5EF4-FFF2-40B4-BE49-F238E27FC236}">
                <a16:creationId xmlns:a16="http://schemas.microsoft.com/office/drawing/2014/main" id="{3E65ECC8-BD03-436D-AB3F-B6B970E38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277177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Descobrir o que fazer hoje, perto de você, em um só lugar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Escolha rápida e confiável</a:t>
            </a:r>
          </a:p>
        </p:txBody>
      </p:sp>
      <p:sp>
        <p:nvSpPr>
          <p:cNvPr id="18" name="lean-cell-3">
            <a:extLst xmlns:a="http://schemas.openxmlformats.org/drawingml/2006/main">
              <a:ext uri="{FF2B5EF4-FFF2-40B4-BE49-F238E27FC236}">
                <a16:creationId xmlns:a16="http://schemas.microsoft.com/office/drawing/2014/main" id="{E4DBEDBB-FCAE-4F87-8AE0-6D0DEE10F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19" name="lean-accent-3">
            <a:extLst xmlns:a="http://schemas.openxmlformats.org/drawingml/2006/main">
              <a:ext uri="{FF2B5EF4-FFF2-40B4-BE49-F238E27FC236}">
                <a16:creationId xmlns:a16="http://schemas.microsoft.com/office/drawing/2014/main" id="{ADD21079-5D15-46C3-9A0F-1F81D89F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91050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lean-title-3">
            <a:extLst xmlns:a="http://schemas.openxmlformats.org/drawingml/2006/main">
              <a:ext uri="{FF2B5EF4-FFF2-40B4-BE49-F238E27FC236}">
                <a16:creationId xmlns:a16="http://schemas.microsoft.com/office/drawing/2014/main" id="{93CDB537-336E-4619-B649-5E902DC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572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Vantagem competitiva</a:t>
            </a:r>
          </a:p>
        </p:txBody>
      </p:sp>
      <p:sp>
        <p:nvSpPr>
          <p:cNvPr id="21" name="lean-body-3">
            <a:extLst xmlns:a="http://schemas.openxmlformats.org/drawingml/2006/main">
              <a:ext uri="{FF2B5EF4-FFF2-40B4-BE49-F238E27FC236}">
                <a16:creationId xmlns:a16="http://schemas.microsoft.com/office/drawing/2014/main" id="{78CA2F49-7566-4970-B541-5E470C75B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24450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Foco local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Atualização por parceiros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Personalização e gamificação</a:t>
            </a:r>
          </a:p>
        </p:txBody>
      </p:sp>
      <p:sp>
        <p:nvSpPr>
          <p:cNvPr id="22" name="lean-cell-4">
            <a:extLst xmlns:a="http://schemas.openxmlformats.org/drawingml/2006/main">
              <a:ext uri="{FF2B5EF4-FFF2-40B4-BE49-F238E27FC236}">
                <a16:creationId xmlns:a16="http://schemas.microsoft.com/office/drawing/2014/main" id="{98EEBF9A-AFC9-46AF-B652-17C2BA848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00550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23" name="lean-accent-4">
            <a:extLst xmlns:a="http://schemas.openxmlformats.org/drawingml/2006/main">
              <a:ext uri="{FF2B5EF4-FFF2-40B4-BE49-F238E27FC236}">
                <a16:creationId xmlns:a16="http://schemas.microsoft.com/office/drawing/2014/main" id="{A992C75C-7AB1-4A50-97C2-4C244BC14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591050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lean-title-4">
            <a:extLst xmlns:a="http://schemas.openxmlformats.org/drawingml/2006/main">
              <a:ext uri="{FF2B5EF4-FFF2-40B4-BE49-F238E27FC236}">
                <a16:creationId xmlns:a16="http://schemas.microsoft.com/office/drawing/2014/main" id="{F1BC2395-ABF5-4CE4-A6DE-6BE82E80D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572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Segmentos</a:t>
            </a:r>
          </a:p>
        </p:txBody>
      </p:sp>
      <p:sp>
        <p:nvSpPr>
          <p:cNvPr id="25" name="lean-body-4">
            <a:extLst xmlns:a="http://schemas.openxmlformats.org/drawingml/2006/main">
              <a:ext uri="{FF2B5EF4-FFF2-40B4-BE49-F238E27FC236}">
                <a16:creationId xmlns:a16="http://schemas.microsoft.com/office/drawing/2014/main" id="{F1959A1B-6AE5-482A-9A67-20EDD9A85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24450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Jovens e adultos conectados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Bares, restaurantes e eventos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Organizadores e espaços culturais</a:t>
            </a:r>
          </a:p>
        </p:txBody>
      </p:sp>
      <p:sp>
        <p:nvSpPr>
          <p:cNvPr id="26" name="lean-cell-5">
            <a:extLst xmlns:a="http://schemas.openxmlformats.org/drawingml/2006/main">
              <a:ext uri="{FF2B5EF4-FFF2-40B4-BE49-F238E27FC236}">
                <a16:creationId xmlns:a16="http://schemas.microsoft.com/office/drawing/2014/main" id="{8D526F59-7A23-4F8E-B948-F532EE4F8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4400550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27" name="lean-accent-5">
            <a:extLst xmlns:a="http://schemas.openxmlformats.org/drawingml/2006/main">
              <a:ext uri="{FF2B5EF4-FFF2-40B4-BE49-F238E27FC236}">
                <a16:creationId xmlns:a16="http://schemas.microsoft.com/office/drawing/2014/main" id="{C6879481-0957-4186-8912-9B6E49B5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4591050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5A1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lean-title-5">
            <a:extLst xmlns:a="http://schemas.openxmlformats.org/drawingml/2006/main">
              <a:ext uri="{FF2B5EF4-FFF2-40B4-BE49-F238E27FC236}">
                <a16:creationId xmlns:a16="http://schemas.microsoft.com/office/drawing/2014/main" id="{2377C756-161D-4006-842B-22E9564A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4572000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Métricas chave</a:t>
            </a:r>
          </a:p>
        </p:txBody>
      </p:sp>
      <p:sp>
        <p:nvSpPr>
          <p:cNvPr id="29" name="lean-body-5">
            <a:extLst xmlns:a="http://schemas.openxmlformats.org/drawingml/2006/main">
              <a:ext uri="{FF2B5EF4-FFF2-40B4-BE49-F238E27FC236}">
                <a16:creationId xmlns:a16="http://schemas.microsoft.com/office/drawing/2014/main" id="{2E66905E-75C2-4B06-AAFB-FD949FCD1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5124450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Usuários ativos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Buscas e cliques em rotas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Check-ins, retenção e parceiros ativos</a:t>
            </a:r>
          </a:p>
        </p:txBody>
      </p:sp>
      <p:sp>
        <p:nvSpPr>
          <p:cNvPr id="30" name="lean-cell-6">
            <a:extLst xmlns:a="http://schemas.openxmlformats.org/drawingml/2006/main">
              <a:ext uri="{FF2B5EF4-FFF2-40B4-BE49-F238E27FC236}">
                <a16:creationId xmlns:a16="http://schemas.microsoft.com/office/drawing/2014/main" id="{0C40C56A-F4F3-4C02-B3BE-F405DADDC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75322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31" name="lean-accent-6">
            <a:extLst xmlns:a="http://schemas.openxmlformats.org/drawingml/2006/main">
              <a:ext uri="{FF2B5EF4-FFF2-40B4-BE49-F238E27FC236}">
                <a16:creationId xmlns:a16="http://schemas.microsoft.com/office/drawing/2014/main" id="{D93C8BAF-03C9-48A2-B3E5-D2A247364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94372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lean-title-6">
            <a:extLst xmlns:a="http://schemas.openxmlformats.org/drawingml/2006/main">
              <a:ext uri="{FF2B5EF4-FFF2-40B4-BE49-F238E27FC236}">
                <a16:creationId xmlns:a16="http://schemas.microsoft.com/office/drawing/2014/main" id="{03DD94D9-5A3C-4FD9-8AEC-FD48761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Canais</a:t>
            </a:r>
          </a:p>
        </p:txBody>
      </p:sp>
      <p:sp>
        <p:nvSpPr>
          <p:cNvPr id="33" name="lean-body-6">
            <a:extLst xmlns:a="http://schemas.openxmlformats.org/drawingml/2006/main">
              <a:ext uri="{FF2B5EF4-FFF2-40B4-BE49-F238E27FC236}">
                <a16:creationId xmlns:a16="http://schemas.microsoft.com/office/drawing/2014/main" id="{9858B8E9-BD61-4562-B020-3CD7CCCD3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747712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Instagram e TikTok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Faculdades e criadores locais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SEO, parceiros e indicações</a:t>
            </a:r>
          </a:p>
        </p:txBody>
      </p:sp>
      <p:sp>
        <p:nvSpPr>
          <p:cNvPr id="34" name="lean-cell-7">
            <a:extLst xmlns:a="http://schemas.openxmlformats.org/drawingml/2006/main">
              <a:ext uri="{FF2B5EF4-FFF2-40B4-BE49-F238E27FC236}">
                <a16:creationId xmlns:a16="http://schemas.microsoft.com/office/drawing/2014/main" id="{67415674-0BA0-42E8-B93C-AFBE7B15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675322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35" name="lean-accent-7">
            <a:extLst xmlns:a="http://schemas.openxmlformats.org/drawingml/2006/main">
              <a:ext uri="{FF2B5EF4-FFF2-40B4-BE49-F238E27FC236}">
                <a16:creationId xmlns:a16="http://schemas.microsoft.com/office/drawing/2014/main" id="{AC002B43-AEA0-41FB-91C1-09F934B1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94372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lean-title-7">
            <a:extLst xmlns:a="http://schemas.openxmlformats.org/drawingml/2006/main">
              <a:ext uri="{FF2B5EF4-FFF2-40B4-BE49-F238E27FC236}">
                <a16:creationId xmlns:a16="http://schemas.microsoft.com/office/drawing/2014/main" id="{2FE1A97A-4213-4FF8-B567-B6AC693B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692467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Estrutura de custos</a:t>
            </a:r>
          </a:p>
        </p:txBody>
      </p:sp>
      <p:sp>
        <p:nvSpPr>
          <p:cNvPr id="37" name="lean-body-7">
            <a:extLst xmlns:a="http://schemas.openxmlformats.org/drawingml/2006/main">
              <a:ext uri="{FF2B5EF4-FFF2-40B4-BE49-F238E27FC236}">
                <a16:creationId xmlns:a16="http://schemas.microsoft.com/office/drawing/2014/main" id="{33EC18EA-10EC-43A9-9E48-3448D445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747712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Desenvolvimento e hospedagem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Mapas, moderação e suporte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Marketing e aquisição</a:t>
            </a:r>
          </a:p>
        </p:txBody>
      </p:sp>
      <p:sp>
        <p:nvSpPr>
          <p:cNvPr id="38" name="lean-cell-8">
            <a:extLst xmlns:a="http://schemas.openxmlformats.org/drawingml/2006/main">
              <a:ext uri="{FF2B5EF4-FFF2-40B4-BE49-F238E27FC236}">
                <a16:creationId xmlns:a16="http://schemas.microsoft.com/office/drawing/2014/main" id="{887B172F-1D21-46C6-B6B7-47CF9829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8650" y="6753225"/>
            <a:ext cx="5391150" cy="2143125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DCF0"/>
            </a:solidFill>
            <a:prstDash val="solid"/>
          </a:ln>
        </p:spPr>
      </p:sp>
      <p:sp>
        <p:nvSpPr>
          <p:cNvPr id="39" name="lean-accent-8">
            <a:extLst xmlns:a="http://schemas.openxmlformats.org/drawingml/2006/main">
              <a:ext uri="{FF2B5EF4-FFF2-40B4-BE49-F238E27FC236}">
                <a16:creationId xmlns:a16="http://schemas.microsoft.com/office/drawing/2014/main" id="{7E19F4E5-CA79-4133-B242-6CB3F1F4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68200" y="6943725"/>
            <a:ext cx="952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lean-title-8">
            <a:extLst xmlns:a="http://schemas.openxmlformats.org/drawingml/2006/main">
              <a:ext uri="{FF2B5EF4-FFF2-40B4-BE49-F238E27FC236}">
                <a16:creationId xmlns:a16="http://schemas.microsoft.com/office/drawing/2014/main" id="{440165DA-3AA5-435F-B044-532A7D759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5850" y="6924675"/>
            <a:ext cx="4724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Fontes de receita</a:t>
            </a:r>
          </a:p>
        </p:txBody>
      </p:sp>
      <p:sp>
        <p:nvSpPr>
          <p:cNvPr id="41" name="lean-body-8">
            <a:extLst xmlns:a="http://schemas.openxmlformats.org/drawingml/2006/main">
              <a:ext uri="{FF2B5EF4-FFF2-40B4-BE49-F238E27FC236}">
                <a16:creationId xmlns:a16="http://schemas.microsoft.com/office/drawing/2014/main" id="{E5E624F7-FDB6-4D84-AEBE-9D9110BBF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7477125"/>
            <a:ext cx="4895850" cy="1266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Planos para parceiros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Destaques patrocinados</a:t>
            </a:r>
          </a:p>
          <a:p xmlns:a="http://schemas.openxmlformats.org/drawingml/2006/main">
            <a:pPr marL="203200" indent="-101600" algn="l">
              <a:spcAft>
                <a:spcPts val="4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Publicidade e comissões futuras</a:t>
            </a:r>
          </a:p>
        </p:txBody>
      </p:sp>
    </p:spTree>
    <p:extLst>
      <p:ext uri="{BB962C8B-B14F-4D97-AF65-F5344CB8AC3E}">
        <p14:creationId xmlns:p14="http://schemas.microsoft.com/office/powerpoint/2010/main" val="139410614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itle-11">
            <a:extLst xmlns:a="http://schemas.openxmlformats.org/drawingml/2006/main">
              <a:ext uri="{FF2B5EF4-FFF2-40B4-BE49-F238E27FC236}">
                <a16:creationId xmlns:a16="http://schemas.microsoft.com/office/drawing/2014/main" id="{094E7117-585E-46AD-9AFB-6870DAB06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Canvas de proposta de valor</a:t>
            </a:r>
          </a:p>
        </p:txBody>
      </p:sp>
      <p:sp>
        <p:nvSpPr>
          <p:cNvPr id="2" name="rule-11">
            <a:extLst xmlns:a="http://schemas.openxmlformats.org/drawingml/2006/main">
              <a:ext uri="{FF2B5EF4-FFF2-40B4-BE49-F238E27FC236}">
                <a16:creationId xmlns:a16="http://schemas.microsoft.com/office/drawing/2014/main" id="{B4A3601A-06DB-4AD5-BE1E-D2B7CDF5B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22F6A364-046E-4E25-9DED-2150B3AF9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Correspondência entre solução e necessidades do cliente</a:t>
            </a:r>
          </a:p>
        </p:txBody>
      </p: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5FEC53AD-02AB-4030-8630-9E442D56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B50B2E96-5521-4F64-BF31-DC175167B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11</a:t>
            </a:r>
          </a:p>
        </p:txBody>
      </p:sp>
      <p:sp>
        <p:nvSpPr>
          <p:cNvPr id="6" name="value-panel">
            <a:extLst xmlns:a="http://schemas.openxmlformats.org/drawingml/2006/main">
              <a:ext uri="{FF2B5EF4-FFF2-40B4-BE49-F238E27FC236}">
                <a16:creationId xmlns:a16="http://schemas.microsoft.com/office/drawing/2014/main" id="{B4A0B64A-BF50-47D6-9ED2-6FEEF8FB3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7953375" cy="6858000"/>
          </a:xfrm>
          <a:prstGeom xmlns:a="http://schemas.openxmlformats.org/drawingml/2006/main" prst="roundRect">
            <a:avLst>
              <a:gd name="adj" fmla="val 4722"/>
            </a:avLst>
          </a:prstGeom>
          <a:solidFill xmlns:a="http://schemas.openxmlformats.org/drawingml/2006/main">
            <a:srgbClr val="F1F6FF"/>
          </a:solidFill>
          <a:ln xmlns:a="http://schemas.openxmlformats.org/drawingml/2006/main" w="19050">
            <a:solidFill>
              <a:srgbClr val="CADBFF"/>
            </a:solidFill>
            <a:prstDash val="solid"/>
          </a:ln>
        </p:spPr>
      </p:sp>
      <p:sp>
        <p:nvSpPr>
          <p:cNvPr id="7" name="customer-panel">
            <a:extLst xmlns:a="http://schemas.openxmlformats.org/drawingml/2006/main">
              <a:ext uri="{FF2B5EF4-FFF2-40B4-BE49-F238E27FC236}">
                <a16:creationId xmlns:a16="http://schemas.microsoft.com/office/drawing/2014/main" id="{045DAD0B-A178-40C1-9058-7A0864E8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2095500"/>
            <a:ext cx="7953375" cy="6858000"/>
          </a:xfrm>
          <a:prstGeom xmlns:a="http://schemas.openxmlformats.org/drawingml/2006/main" prst="roundRect">
            <a:avLst>
              <a:gd name="adj" fmla="val 4722"/>
            </a:avLst>
          </a:prstGeom>
          <a:solidFill xmlns:a="http://schemas.openxmlformats.org/drawingml/2006/main">
            <a:srgbClr val="FFF6F2"/>
          </a:solidFill>
          <a:ln xmlns:a="http://schemas.openxmlformats.org/drawingml/2006/main" w="19050">
            <a:solidFill>
              <a:srgbClr val="FFD6C8"/>
            </a:solidFill>
            <a:prstDash val="solid"/>
          </a:ln>
        </p:spPr>
      </p:sp>
      <p:sp>
        <p:nvSpPr>
          <p:cNvPr id="8" name="value-title">
            <a:extLst xmlns:a="http://schemas.openxmlformats.org/drawingml/2006/main">
              <a:ext uri="{FF2B5EF4-FFF2-40B4-BE49-F238E27FC236}">
                <a16:creationId xmlns:a16="http://schemas.microsoft.com/office/drawing/2014/main" id="{C82CFD42-2F06-414F-A1B2-594633B82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381250"/>
            <a:ext cx="476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Proposta de valor</a:t>
            </a:r>
          </a:p>
        </p:txBody>
      </p:sp>
      <p:sp>
        <p:nvSpPr>
          <p:cNvPr id="9" name="customer-title">
            <a:extLst xmlns:a="http://schemas.openxmlformats.org/drawingml/2006/main">
              <a:ext uri="{FF2B5EF4-FFF2-40B4-BE49-F238E27FC236}">
                <a16:creationId xmlns:a16="http://schemas.microsoft.com/office/drawing/2014/main" id="{B228D99E-879C-4489-8F21-60F9EE54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F34754"/>
                </a:solidFill>
                <a:latin typeface="Nimbus Sans"/>
                <a:ea typeface="Nimbus Sans"/>
                <a:cs typeface="Nimbus Sans"/>
              </a:defRPr>
            </a:pPr>
            <a:r>
              <a:rPr sz="2475" b="1">
                <a:solidFill>
                  <a:srgbClr val="F34754"/>
                </a:solidFill>
                <a:latin typeface="Nimbus Sans"/>
                <a:ea typeface="Nimbus Sans"/>
                <a:cs typeface="Nimbus Sans"/>
              </a:rPr>
              <a:t>Segmento de clientes</a:t>
            </a:r>
          </a:p>
        </p:txBody>
      </p:sp>
      <p:sp>
        <p:nvSpPr>
          <p:cNvPr id="10" name="vpc-0-0">
            <a:extLst xmlns:a="http://schemas.openxmlformats.org/drawingml/2006/main">
              <a:ext uri="{FF2B5EF4-FFF2-40B4-BE49-F238E27FC236}">
                <a16:creationId xmlns:a16="http://schemas.microsoft.com/office/drawing/2014/main" id="{8F68F1AB-A6F4-4A27-90A7-67DD8C1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3850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A"/>
            </a:solidFill>
            <a:prstDash val="solid"/>
          </a:ln>
        </p:spPr>
      </p:sp>
      <p:sp>
        <p:nvSpPr>
          <p:cNvPr id="11" name="vpc-accent-0-0">
            <a:extLst xmlns:a="http://schemas.openxmlformats.org/drawingml/2006/main">
              <a:ext uri="{FF2B5EF4-FFF2-40B4-BE49-F238E27FC236}">
                <a16:creationId xmlns:a16="http://schemas.microsoft.com/office/drawing/2014/main" id="{58535393-388A-46AA-97EC-838C809FA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vpc-title-0-0">
            <a:extLst xmlns:a="http://schemas.openxmlformats.org/drawingml/2006/main">
              <a:ext uri="{FF2B5EF4-FFF2-40B4-BE49-F238E27FC236}">
                <a16:creationId xmlns:a16="http://schemas.microsoft.com/office/drawing/2014/main" id="{A3521372-CA2E-4184-A056-4742CFF34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409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Produtos e serviços</a:t>
            </a:r>
          </a:p>
        </p:txBody>
      </p:sp>
      <p:sp>
        <p:nvSpPr>
          <p:cNvPr id="13" name="vpc-body-0-0">
            <a:extLst xmlns:a="http://schemas.openxmlformats.org/drawingml/2006/main">
              <a:ext uri="{FF2B5EF4-FFF2-40B4-BE49-F238E27FC236}">
                <a16:creationId xmlns:a16="http://schemas.microsoft.com/office/drawing/2014/main" id="{82F7E56D-E700-4954-9C81-6220196F4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389572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Mapa e busca local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Eventos, promoções e perfis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Favoritos, compartilhamento e check-ins</a:t>
            </a:r>
          </a:p>
        </p:txBody>
      </p:sp>
      <p:sp>
        <p:nvSpPr>
          <p:cNvPr id="14" name="vpc-0-1">
            <a:extLst xmlns:a="http://schemas.openxmlformats.org/drawingml/2006/main">
              <a:ext uri="{FF2B5EF4-FFF2-40B4-BE49-F238E27FC236}">
                <a16:creationId xmlns:a16="http://schemas.microsoft.com/office/drawing/2014/main" id="{615A2F01-2949-4B0E-BDD5-8747466E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A"/>
            </a:solidFill>
            <a:prstDash val="solid"/>
          </a:ln>
        </p:spPr>
      </p:sp>
      <p:sp>
        <p:nvSpPr>
          <p:cNvPr id="15" name="vpc-accent-0-1">
            <a:extLst xmlns:a="http://schemas.openxmlformats.org/drawingml/2006/main">
              <a:ext uri="{FF2B5EF4-FFF2-40B4-BE49-F238E27FC236}">
                <a16:creationId xmlns:a16="http://schemas.microsoft.com/office/drawing/2014/main" id="{253DC07A-F79A-4DF1-9BA2-979F2E4D7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5257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3A38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vpc-title-0-1">
            <a:extLst xmlns:a="http://schemas.openxmlformats.org/drawingml/2006/main">
              <a:ext uri="{FF2B5EF4-FFF2-40B4-BE49-F238E27FC236}">
                <a16:creationId xmlns:a16="http://schemas.microsoft.com/office/drawing/2014/main" id="{BFFED8F8-01CC-414F-A4DF-C391F73B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219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Aliviadores de dores</a:t>
            </a:r>
          </a:p>
        </p:txBody>
      </p:sp>
      <p:sp>
        <p:nvSpPr>
          <p:cNvPr id="17" name="vpc-body-0-1">
            <a:extLst xmlns:a="http://schemas.openxmlformats.org/drawingml/2006/main">
              <a:ext uri="{FF2B5EF4-FFF2-40B4-BE49-F238E27FC236}">
                <a16:creationId xmlns:a16="http://schemas.microsoft.com/office/drawing/2014/main" id="{865C8BDD-75FC-4FC1-8C24-2737130E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570547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Centralização das informações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Atualizações feitas pelos parceiros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Filtros por contexto e avaliações</a:t>
            </a:r>
          </a:p>
        </p:txBody>
      </p:sp>
      <p:sp>
        <p:nvSpPr>
          <p:cNvPr id="18" name="vpc-0-2">
            <a:extLst xmlns:a="http://schemas.openxmlformats.org/drawingml/2006/main">
              <a:ext uri="{FF2B5EF4-FFF2-40B4-BE49-F238E27FC236}">
                <a16:creationId xmlns:a16="http://schemas.microsoft.com/office/drawing/2014/main" id="{792A1F19-95E7-4F02-9F1D-D7CA2A0F0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85800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2FA"/>
            </a:solidFill>
            <a:prstDash val="solid"/>
          </a:ln>
        </p:spPr>
      </p:sp>
      <p:sp>
        <p:nvSpPr>
          <p:cNvPr id="19" name="vpc-accent-0-2">
            <a:extLst xmlns:a="http://schemas.openxmlformats.org/drawingml/2006/main">
              <a:ext uri="{FF2B5EF4-FFF2-40B4-BE49-F238E27FC236}">
                <a16:creationId xmlns:a16="http://schemas.microsoft.com/office/drawing/2014/main" id="{BB89A269-12B5-4396-86F6-6F9B54EB0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70675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C8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vpc-title-0-2">
            <a:extLst xmlns:a="http://schemas.openxmlformats.org/drawingml/2006/main">
              <a:ext uri="{FF2B5EF4-FFF2-40B4-BE49-F238E27FC236}">
                <a16:creationId xmlns:a16="http://schemas.microsoft.com/office/drawing/2014/main" id="{7A294071-B337-415E-AEB7-21CBD3A5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7029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Criadores de ganhos</a:t>
            </a:r>
          </a:p>
        </p:txBody>
      </p:sp>
      <p:sp>
        <p:nvSpPr>
          <p:cNvPr id="21" name="vpc-body-0-2">
            <a:extLst xmlns:a="http://schemas.openxmlformats.org/drawingml/2006/main">
              <a:ext uri="{FF2B5EF4-FFF2-40B4-BE49-F238E27FC236}">
                <a16:creationId xmlns:a16="http://schemas.microsoft.com/office/drawing/2014/main" id="{F61802C6-E50E-4C0F-AC14-7CBFCBB1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751522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Recomendações personalizadas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Cupons e recompensas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Descoberta de novos lugares</a:t>
            </a:r>
          </a:p>
        </p:txBody>
      </p:sp>
      <p:sp>
        <p:nvSpPr>
          <p:cNvPr id="22" name="vpc-1-0">
            <a:extLst xmlns:a="http://schemas.openxmlformats.org/drawingml/2006/main">
              <a:ext uri="{FF2B5EF4-FFF2-40B4-BE49-F238E27FC236}">
                <a16:creationId xmlns:a16="http://schemas.microsoft.com/office/drawing/2014/main" id="{44FFA6DF-8AAC-43AD-8888-3495B3A8C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3850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DCD4"/>
            </a:solidFill>
            <a:prstDash val="solid"/>
          </a:ln>
        </p:spPr>
      </p:sp>
      <p:sp>
        <p:nvSpPr>
          <p:cNvPr id="23" name="vpc-accent-1-0">
            <a:extLst xmlns:a="http://schemas.openxmlformats.org/drawingml/2006/main">
              <a:ext uri="{FF2B5EF4-FFF2-40B4-BE49-F238E27FC236}">
                <a16:creationId xmlns:a16="http://schemas.microsoft.com/office/drawing/2014/main" id="{82BA40EB-B2F5-4214-958B-3A6DDC31C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34480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vpc-title-1-0">
            <a:extLst xmlns:a="http://schemas.openxmlformats.org/drawingml/2006/main">
              <a:ext uri="{FF2B5EF4-FFF2-40B4-BE49-F238E27FC236}">
                <a16:creationId xmlns:a16="http://schemas.microsoft.com/office/drawing/2014/main" id="{F1553D77-A080-4FD6-BE15-648B10604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099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Tarefas do cliente</a:t>
            </a:r>
          </a:p>
        </p:txBody>
      </p:sp>
      <p:sp>
        <p:nvSpPr>
          <p:cNvPr id="25" name="vpc-body-1-0">
            <a:extLst xmlns:a="http://schemas.openxmlformats.org/drawingml/2006/main">
              <a:ext uri="{FF2B5EF4-FFF2-40B4-BE49-F238E27FC236}">
                <a16:creationId xmlns:a16="http://schemas.microsoft.com/office/drawing/2014/main" id="{CD90EE4E-5ABE-4655-9F3D-5A17628C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389572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Decidir onde ir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Comparar preço, distância e horário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Combinar com amigos</a:t>
            </a:r>
          </a:p>
        </p:txBody>
      </p:sp>
      <p:sp>
        <p:nvSpPr>
          <p:cNvPr id="26" name="vpc-1-1">
            <a:extLst xmlns:a="http://schemas.openxmlformats.org/drawingml/2006/main">
              <a:ext uri="{FF2B5EF4-FFF2-40B4-BE49-F238E27FC236}">
                <a16:creationId xmlns:a16="http://schemas.microsoft.com/office/drawing/2014/main" id="{C1E1CD00-A03A-4308-B926-67D099DE9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04825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DCD4"/>
            </a:solidFill>
            <a:prstDash val="solid"/>
          </a:ln>
        </p:spPr>
      </p:sp>
      <p:sp>
        <p:nvSpPr>
          <p:cNvPr id="27" name="vpc-accent-1-1">
            <a:extLst xmlns:a="http://schemas.openxmlformats.org/drawingml/2006/main">
              <a:ext uri="{FF2B5EF4-FFF2-40B4-BE49-F238E27FC236}">
                <a16:creationId xmlns:a16="http://schemas.microsoft.com/office/drawing/2014/main" id="{FF379033-E2D5-4B22-83EE-00F50CF2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25780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vpc-title-1-1">
            <a:extLst xmlns:a="http://schemas.openxmlformats.org/drawingml/2006/main">
              <a:ext uri="{FF2B5EF4-FFF2-40B4-BE49-F238E27FC236}">
                <a16:creationId xmlns:a16="http://schemas.microsoft.com/office/drawing/2014/main" id="{8440D069-FC6C-4EB3-99AF-4724BA1D4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2197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Dores do cliente</a:t>
            </a:r>
          </a:p>
        </p:txBody>
      </p:sp>
      <p:sp>
        <p:nvSpPr>
          <p:cNvPr id="29" name="vpc-body-1-1">
            <a:extLst xmlns:a="http://schemas.openxmlformats.org/drawingml/2006/main">
              <a:ext uri="{FF2B5EF4-FFF2-40B4-BE49-F238E27FC236}">
                <a16:creationId xmlns:a16="http://schemas.microsoft.com/office/drawing/2014/main" id="{53A39094-27BC-4095-9E83-5C270F1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570547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Informações espalhadas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Dados desatualizados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Tempo perdido e incerteza</a:t>
            </a:r>
          </a:p>
        </p:txBody>
      </p:sp>
      <p:sp>
        <p:nvSpPr>
          <p:cNvPr id="30" name="vpc-1-2">
            <a:extLst xmlns:a="http://schemas.openxmlformats.org/drawingml/2006/main">
              <a:ext uri="{FF2B5EF4-FFF2-40B4-BE49-F238E27FC236}">
                <a16:creationId xmlns:a16="http://schemas.microsoft.com/office/drawing/2014/main" id="{CD6F5EC3-AA64-4F69-BADD-1A6B3C17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858000"/>
            <a:ext cx="7096125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DCD4"/>
            </a:solidFill>
            <a:prstDash val="solid"/>
          </a:ln>
        </p:spPr>
      </p:sp>
      <p:sp>
        <p:nvSpPr>
          <p:cNvPr id="31" name="vpc-accent-1-2">
            <a:extLst xmlns:a="http://schemas.openxmlformats.org/drawingml/2006/main">
              <a:ext uri="{FF2B5EF4-FFF2-40B4-BE49-F238E27FC236}">
                <a16:creationId xmlns:a16="http://schemas.microsoft.com/office/drawing/2014/main" id="{8FFE3ABC-145A-4E72-8778-211ABB2E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7067550"/>
            <a:ext cx="95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vpc-title-1-2">
            <a:extLst xmlns:a="http://schemas.openxmlformats.org/drawingml/2006/main">
              <a:ext uri="{FF2B5EF4-FFF2-40B4-BE49-F238E27FC236}">
                <a16:creationId xmlns:a16="http://schemas.microsoft.com/office/drawing/2014/main" id="{5AF64060-085A-4044-9AE6-8E61DBF1C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702945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Ganhos esperados</a:t>
            </a:r>
          </a:p>
        </p:txBody>
      </p:sp>
      <p:sp>
        <p:nvSpPr>
          <p:cNvPr id="33" name="vpc-body-1-2">
            <a:extLst xmlns:a="http://schemas.openxmlformats.org/drawingml/2006/main">
              <a:ext uri="{FF2B5EF4-FFF2-40B4-BE49-F238E27FC236}">
                <a16:creationId xmlns:a16="http://schemas.microsoft.com/office/drawing/2014/main" id="{19C47F1C-65BD-4788-A44F-6316E83B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7515225"/>
            <a:ext cx="65246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Decisão rápida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Confiança na escolha</a:t>
            </a:r>
          </a:p>
          <a:p xmlns:a="http://schemas.openxmlformats.org/drawingml/2006/main">
            <a:pPr marL="203200" indent="-101600" algn="l">
              <a:spcAft>
                <a:spcPts val="200"/>
              </a:spcAft>
              <a:buChar char="•"/>
              <a:def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3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Economia e novas experiências</a:t>
            </a:r>
          </a:p>
        </p:txBody>
      </p:sp>
      <p:sp>
        <p:nvSpPr>
          <p:cNvPr id="34" name="fit-arrow">
            <a:extLst xmlns:a="http://schemas.openxmlformats.org/drawingml/2006/main">
              <a:ext uri="{FF2B5EF4-FFF2-40B4-BE49-F238E27FC236}">
                <a16:creationId xmlns:a16="http://schemas.microsoft.com/office/drawing/2014/main" id="{FABB94B4-E3E7-444B-915B-65212B54B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953000"/>
            <a:ext cx="723900" cy="1047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fit-label">
            <a:extLst xmlns:a="http://schemas.openxmlformats.org/drawingml/2006/main">
              <a:ext uri="{FF2B5EF4-FFF2-40B4-BE49-F238E27FC236}">
                <a16:creationId xmlns:a16="http://schemas.microsoft.com/office/drawing/2014/main" id="{67056258-3B49-459D-AFC2-1E561672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91250"/>
            <a:ext cx="1000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10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ADERÊNCIA</a:t>
            </a:r>
          </a:p>
        </p:txBody>
      </p:sp>
    </p:spTree>
    <p:extLst>
      <p:ext uri="{BB962C8B-B14F-4D97-AF65-F5344CB8AC3E}">
        <p14:creationId xmlns:p14="http://schemas.microsoft.com/office/powerpoint/2010/main" val="95376888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9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title-12">
            <a:extLst xmlns:a="http://schemas.openxmlformats.org/drawingml/2006/main">
              <a:ext uri="{FF2B5EF4-FFF2-40B4-BE49-F238E27FC236}">
                <a16:creationId xmlns:a16="http://schemas.microsoft.com/office/drawing/2014/main" id="{96482BBD-BAFD-4E00-92EE-7EE969E7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3875"/>
            <a:ext cx="1428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769F4"/>
                </a:solidFill>
                <a:latin typeface="Nimbus Sans"/>
                <a:ea typeface="Nimbus Sans"/>
                <a:cs typeface="Nimbus Sans"/>
              </a:rPr>
              <a:t>Mercado</a:t>
            </a:r>
          </a:p>
        </p:txBody>
      </p:sp>
      <p:sp>
        <p:nvSpPr>
          <p:cNvPr id="2" name="rule-12">
            <a:extLst xmlns:a="http://schemas.openxmlformats.org/drawingml/2006/main">
              <a:ext uri="{FF2B5EF4-FFF2-40B4-BE49-F238E27FC236}">
                <a16:creationId xmlns:a16="http://schemas.microsoft.com/office/drawing/2014/main" id="{4B0E6BD5-30BD-4757-8C57-5481747E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47800"/>
            <a:ext cx="1809750" cy="1238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769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29086131-AFBA-4F75-8EEC-2711D50D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1323975"/>
            <a:ext cx="1209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Estimativa inicial da base digital alcançável</a:t>
            </a:r>
          </a:p>
        </p:txBody>
      </p: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7FE548F0-139C-4FE2-A5BB-3AE5DD0E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978217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QUAL É A BOA?  •  STARTUP PROJECT ONE  •  AC1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4ECA7B19-BCF1-44F3-B450-CF1E9E942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1625" y="978217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defRPr>
            </a:pPr>
            <a:r>
              <a:rPr sz="1125" b="1">
                <a:solidFill>
                  <a:srgbClr val="7A8396"/>
                </a:solidFill>
                <a:latin typeface="Nimbus Sans"/>
                <a:ea typeface="Nimbus Sans"/>
                <a:cs typeface="Nimbus Sans"/>
              </a:rPr>
              <a:t>12</a:t>
            </a:r>
          </a:p>
        </p:txBody>
      </p:sp>
      <p:sp>
        <p:nvSpPr>
          <p:cNvPr id="6" name="tam-circle">
            <a:extLst xmlns:a="http://schemas.openxmlformats.org/drawingml/2006/main">
              <a:ext uri="{FF2B5EF4-FFF2-40B4-BE49-F238E27FC236}">
                <a16:creationId xmlns:a16="http://schemas.microsoft.com/office/drawing/2014/main" id="{BE93A94D-2043-41B4-9A17-A70D5343C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6191250" cy="619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59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am-circle">
            <a:extLst xmlns:a="http://schemas.openxmlformats.org/drawingml/2006/main">
              <a:ext uri="{FF2B5EF4-FFF2-40B4-BE49-F238E27FC236}">
                <a16:creationId xmlns:a16="http://schemas.microsoft.com/office/drawing/2014/main" id="{48705969-603A-4D33-A789-CD7C4BF8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86125"/>
            <a:ext cx="4286250" cy="428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84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om-circle">
            <a:extLst xmlns:a="http://schemas.openxmlformats.org/drawingml/2006/main">
              <a:ext uri="{FF2B5EF4-FFF2-40B4-BE49-F238E27FC236}">
                <a16:creationId xmlns:a16="http://schemas.microsoft.com/office/drawing/2014/main" id="{D340C9E8-A24C-4E52-A94C-3C865BB7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191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B2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tam-label-in">
            <a:extLst xmlns:a="http://schemas.openxmlformats.org/drawingml/2006/main">
              <a:ext uri="{FF2B5EF4-FFF2-40B4-BE49-F238E27FC236}">
                <a16:creationId xmlns:a16="http://schemas.microsoft.com/office/drawing/2014/main" id="{13F5ACD2-057A-48F4-86AE-C6937840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146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TAM</a:t>
            </a:r>
          </a:p>
        </p:txBody>
      </p:sp>
      <p:sp>
        <p:nvSpPr>
          <p:cNvPr id="10" name="sam-label-in">
            <a:extLst xmlns:a="http://schemas.openxmlformats.org/drawingml/2006/main">
              <a:ext uri="{FF2B5EF4-FFF2-40B4-BE49-F238E27FC236}">
                <a16:creationId xmlns:a16="http://schemas.microsoft.com/office/drawing/2014/main" id="{C919513C-955F-43FF-9B47-18D62882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195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SAM</a:t>
            </a:r>
          </a:p>
        </p:txBody>
      </p:sp>
      <p:sp>
        <p:nvSpPr>
          <p:cNvPr id="11" name="som-label-in">
            <a:extLst xmlns:a="http://schemas.openxmlformats.org/drawingml/2006/main">
              <a:ext uri="{FF2B5EF4-FFF2-40B4-BE49-F238E27FC236}">
                <a16:creationId xmlns:a16="http://schemas.microsoft.com/office/drawing/2014/main" id="{6B89A6AC-6BB6-4C3E-9A24-9D78FD60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191125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SOM</a:t>
            </a:r>
          </a:p>
        </p:txBody>
      </p:sp>
      <p:sp>
        <p:nvSpPr>
          <p:cNvPr id="12" name="market-card-0">
            <a:extLst xmlns:a="http://schemas.openxmlformats.org/drawingml/2006/main">
              <a:ext uri="{FF2B5EF4-FFF2-40B4-BE49-F238E27FC236}">
                <a16:creationId xmlns:a16="http://schemas.microsoft.com/office/drawing/2014/main" id="{61C60A4B-5248-41E2-850B-64E80B46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33625"/>
            <a:ext cx="800100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market-accent-0">
            <a:extLst xmlns:a="http://schemas.openxmlformats.org/drawingml/2006/main">
              <a:ext uri="{FF2B5EF4-FFF2-40B4-BE49-F238E27FC236}">
                <a16:creationId xmlns:a16="http://schemas.microsoft.com/office/drawing/2014/main" id="{30B7E969-8DEA-47A7-86BD-1FEE22F9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619375"/>
            <a:ext cx="809625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D4BE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market-code-0">
            <a:extLst xmlns:a="http://schemas.openxmlformats.org/drawingml/2006/main">
              <a:ext uri="{FF2B5EF4-FFF2-40B4-BE49-F238E27FC236}">
                <a16:creationId xmlns:a16="http://schemas.microsoft.com/office/drawing/2014/main" id="{5F68080E-A896-4AA6-8643-A478E176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TAM</a:t>
            </a:r>
          </a:p>
        </p:txBody>
      </p:sp>
      <p:sp>
        <p:nvSpPr>
          <p:cNvPr id="15" name="market-value-0">
            <a:extLst xmlns:a="http://schemas.openxmlformats.org/drawingml/2006/main">
              <a:ext uri="{FF2B5EF4-FFF2-40B4-BE49-F238E27FC236}">
                <a16:creationId xmlns:a16="http://schemas.microsoft.com/office/drawing/2014/main" id="{A8DA5211-3021-45E0-8BFB-4253A043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571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157 milhões</a:t>
            </a:r>
          </a:p>
        </p:txBody>
      </p:sp>
      <p:sp>
        <p:nvSpPr>
          <p:cNvPr id="16" name="market-desc-0">
            <a:extLst xmlns:a="http://schemas.openxmlformats.org/drawingml/2006/main">
              <a:ext uri="{FF2B5EF4-FFF2-40B4-BE49-F238E27FC236}">
                <a16:creationId xmlns:a16="http://schemas.microsoft.com/office/drawing/2014/main" id="{BF159C01-4860-47FB-A7B5-718242841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322897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mercado total disponível: usuários de internet no Brasil em 2025</a:t>
            </a:r>
          </a:p>
        </p:txBody>
      </p:sp>
      <p:sp>
        <p:nvSpPr>
          <p:cNvPr id="17" name="market-card-1">
            <a:extLst xmlns:a="http://schemas.openxmlformats.org/drawingml/2006/main">
              <a:ext uri="{FF2B5EF4-FFF2-40B4-BE49-F238E27FC236}">
                <a16:creationId xmlns:a16="http://schemas.microsoft.com/office/drawing/2014/main" id="{35BDA077-8562-4AB5-B098-9057D08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29125"/>
            <a:ext cx="800100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market-accent-1">
            <a:extLst xmlns:a="http://schemas.openxmlformats.org/drawingml/2006/main">
              <a:ext uri="{FF2B5EF4-FFF2-40B4-BE49-F238E27FC236}">
                <a16:creationId xmlns:a16="http://schemas.microsoft.com/office/drawing/2014/main" id="{4A8B78E2-D164-4813-AAA6-B057C195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14875"/>
            <a:ext cx="809625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347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arket-code-1">
            <a:extLst xmlns:a="http://schemas.openxmlformats.org/drawingml/2006/main">
              <a:ext uri="{FF2B5EF4-FFF2-40B4-BE49-F238E27FC236}">
                <a16:creationId xmlns:a16="http://schemas.microsoft.com/office/drawing/2014/main" id="{D8941BD1-F700-4CC9-9E2D-D1D3BCEFF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SAM</a:t>
            </a:r>
          </a:p>
        </p:txBody>
      </p:sp>
      <p:sp>
        <p:nvSpPr>
          <p:cNvPr id="20" name="market-value-1">
            <a:extLst xmlns:a="http://schemas.openxmlformats.org/drawingml/2006/main">
              <a:ext uri="{FF2B5EF4-FFF2-40B4-BE49-F238E27FC236}">
                <a16:creationId xmlns:a16="http://schemas.microsoft.com/office/drawing/2014/main" id="{749A629A-915A-4FCD-B976-C1A43AE47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67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aprox. 651 mil</a:t>
            </a:r>
          </a:p>
        </p:txBody>
      </p:sp>
      <p:sp>
        <p:nvSpPr>
          <p:cNvPr id="21" name="market-desc-1">
            <a:extLst xmlns:a="http://schemas.openxmlformats.org/drawingml/2006/main">
              <a:ext uri="{FF2B5EF4-FFF2-40B4-BE49-F238E27FC236}">
                <a16:creationId xmlns:a16="http://schemas.microsoft.com/office/drawing/2014/main" id="{25022043-5487-43FF-BDD2-A976E27BA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2447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mercado útil local: base digital estimada em Sorocaba</a:t>
            </a:r>
          </a:p>
        </p:txBody>
      </p:sp>
      <p:sp>
        <p:nvSpPr>
          <p:cNvPr id="22" name="market-card-2">
            <a:extLst xmlns:a="http://schemas.openxmlformats.org/drawingml/2006/main">
              <a:ext uri="{FF2B5EF4-FFF2-40B4-BE49-F238E27FC236}">
                <a16:creationId xmlns:a16="http://schemas.microsoft.com/office/drawing/2014/main" id="{EFB1C062-933C-4B44-BF77-14114E83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6524625"/>
            <a:ext cx="8001000" cy="1666875"/>
          </a:xfrm>
          <a:prstGeom xmlns:a="http://schemas.openxmlformats.org/drawingml/2006/main" prst="roundRect">
            <a:avLst>
              <a:gd name="adj" fmla="val 12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7DD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3" name="market-accent-2">
            <a:extLst xmlns:a="http://schemas.openxmlformats.org/drawingml/2006/main">
              <a:ext uri="{FF2B5EF4-FFF2-40B4-BE49-F238E27FC236}">
                <a16:creationId xmlns:a16="http://schemas.microsoft.com/office/drawing/2014/main" id="{95E230BB-91D2-41C4-BEE0-0062DE3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810375"/>
            <a:ext cx="809625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FA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market-code-2">
            <a:extLst xmlns:a="http://schemas.openxmlformats.org/drawingml/2006/main">
              <a:ext uri="{FF2B5EF4-FFF2-40B4-BE49-F238E27FC236}">
                <a16:creationId xmlns:a16="http://schemas.microsoft.com/office/drawing/2014/main" id="{8E9E407F-72C7-451A-BE5D-9395CBBB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905625"/>
            <a:ext cx="809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SOM</a:t>
            </a:r>
          </a:p>
        </p:txBody>
      </p:sp>
      <p:sp>
        <p:nvSpPr>
          <p:cNvPr id="25" name="market-value-2">
            <a:extLst xmlns:a="http://schemas.openxmlformats.org/drawingml/2006/main">
              <a:ext uri="{FF2B5EF4-FFF2-40B4-BE49-F238E27FC236}">
                <a16:creationId xmlns:a16="http://schemas.microsoft.com/office/drawing/2014/main" id="{BC9E0FA7-2E07-4CA3-A7C9-3C07C84F3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7627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72033"/>
                </a:solidFill>
                <a:latin typeface="Nimbus Sans"/>
                <a:ea typeface="Nimbus Sans"/>
                <a:cs typeface="Nimbus Sans"/>
              </a:rPr>
              <a:t>10 mil usuários</a:t>
            </a:r>
          </a:p>
        </p:txBody>
      </p:sp>
      <p:sp>
        <p:nvSpPr>
          <p:cNvPr id="26" name="market-desc-2">
            <a:extLst xmlns:a="http://schemas.openxmlformats.org/drawingml/2006/main">
              <a:ext uri="{FF2B5EF4-FFF2-40B4-BE49-F238E27FC236}">
                <a16:creationId xmlns:a16="http://schemas.microsoft.com/office/drawing/2014/main" id="{C257FFBE-87BB-41AD-8306-968DCB7D3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7419975"/>
            <a:ext cx="6000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650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mercado alcançável: meta e 150 parceiros em 24 meses</a:t>
            </a:r>
          </a:p>
        </p:txBody>
      </p:sp>
      <p:sp>
        <p:nvSpPr>
          <p:cNvPr id="27" name="market-method">
            <a:extLst xmlns:a="http://schemas.openxmlformats.org/drawingml/2006/main">
              <a:ext uri="{FF2B5EF4-FFF2-40B4-BE49-F238E27FC236}">
                <a16:creationId xmlns:a16="http://schemas.microsoft.com/office/drawing/2014/main" id="{FB32CEA6-6CAB-4796-B86C-4BAC2D28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876300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3000"/>
              </a:lnSpc>
              <a:buNone/>
              <a:defRPr sz="1275">
                <a:solidFill>
                  <a:srgbClr val="5E6678"/>
                </a:solidFill>
                <a:latin typeface="Nimbus Sans"/>
                <a:ea typeface="Nimbus Sans"/>
                <a:cs typeface="Nimbus Sans"/>
              </a:defRPr>
            </a:pPr>
            <a:r>
              <a:rPr sz="1275">
                <a:solidFill>
                  <a:srgbClr val="5E6678"/>
                </a:solidFill>
                <a:latin typeface="Nimbus Sans"/>
                <a:ea typeface="Nimbus Sans"/>
                <a:cs typeface="Nimbus Sans"/>
              </a:rPr>
              <a:t>Método: SAM = população estimada de Sorocaba em 2026 (766.390) × 85% de usuários de internet. SOM é uma meta interna inicial, não uma previsão garantida.</a:t>
            </a:r>
          </a:p>
        </p:txBody>
      </p:sp>
      <p:sp>
        <p:nvSpPr>
          <p:cNvPr id="28" name="market-sources">
            <a:extLst xmlns:a="http://schemas.openxmlformats.org/drawingml/2006/main">
              <a:ext uri="{FF2B5EF4-FFF2-40B4-BE49-F238E27FC236}">
                <a16:creationId xmlns:a16="http://schemas.microsoft.com/office/drawing/2014/main" id="{A6CB1DFD-9406-4687-8ADC-1B9BB23DB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93535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>
                <a:solidFill>
                  <a:srgbClr val="7B8497"/>
                </a:solidFill>
                <a:latin typeface="Nimbus Sans"/>
                <a:ea typeface="Nimbus Sans"/>
                <a:cs typeface="Nimbus Sans"/>
              </a:defRPr>
            </a:pPr>
            <a:r>
              <a:rPr sz="1125">
                <a:solidFill>
                  <a:srgbClr val="7B8497"/>
                </a:solidFill>
                <a:latin typeface="Nimbus Sans"/>
                <a:ea typeface="Nimbus Sans"/>
                <a:cs typeface="Nimbus Sans"/>
              </a:rPr>
              <a:t>Fontes: IBGE, Estimativas da População 2026; CGI.br, TIC Domicílios 2025.</a:t>
            </a:r>
          </a:p>
        </p:txBody>
      </p:sp>
    </p:spTree>
    <p:extLst>
      <p:ext uri="{BB962C8B-B14F-4D97-AF65-F5344CB8AC3E}">
        <p14:creationId xmlns:p14="http://schemas.microsoft.com/office/powerpoint/2010/main" val="372368123"/>
      </p:ext>
    </p:extLst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8288000" cy="109728"/>
          </a:xfrm>
          <a:prstGeom prst="rect">
            <a:avLst/>
          </a:prstGeom>
          <a:solidFill>
            <a:srgbClr val="F2B1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7365D"/>
                </a:solidFill>
              </a:defRPr>
            </a:pPr>
            <a:r>
              <a:t>Mapa mental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914400"/>
            <a:ext cx="8229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5F6B7A"/>
                </a:solidFill>
              </a:defRPr>
            </a:pPr>
            <a:r>
              <a:t>Visão integrada do problema, solução, negócio, tecnologia e validação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60520" y="2423160"/>
            <a:ext cx="2057400" cy="1078992"/>
          </a:xfrm>
          <a:prstGeom prst="roundRect">
            <a:avLst/>
          </a:prstGeom>
          <a:solidFill>
            <a:srgbClr val="17365D"/>
          </a:solidFill>
          <a:ln>
            <a:solidFill>
              <a:srgbClr val="1736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QUAL É A BOA?</a:t>
            </a:r>
          </a:p>
          <a:p>
            <a:pPr algn="ctr">
              <a:defRPr sz="900">
                <a:solidFill>
                  <a:srgbClr val="E6EEF7"/>
                </a:solidFill>
              </a:defRPr>
            </a:pPr>
            <a:r>
              <a:t>descoberta local em um só lugar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PROBLEMA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informação fragmentada</a:t>
            </a:r>
            <a:br/>
            <a:r>
              <a:t>dados desatualizados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88620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PÚBLICO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jovens e moradores</a:t>
            </a:r>
            <a:br/>
            <a:r>
              <a:t>+ negócios locais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46120" y="47091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SOLUÇÃO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mapa • filtros • eventos</a:t>
            </a:r>
            <a:br/>
            <a:r>
              <a:t>favoritos • benefícios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388620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NEGÓCIO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planos B2B • destaque</a:t>
            </a:r>
            <a:br/>
            <a:r>
              <a:t>publicidade futura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150876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TECNOLOGIA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web modular • API • banco</a:t>
            </a:r>
            <a:br/>
            <a:r>
              <a:t>app móvel no futuro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1143000"/>
            <a:ext cx="2331720" cy="960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F55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2F5597"/>
                </a:solidFill>
              </a:defRPr>
            </a:pPr>
            <a:r>
              <a:t>VALIDAÇÃO</a:t>
            </a:r>
          </a:p>
          <a:p>
            <a:pPr algn="ctr">
              <a:defRPr sz="900">
                <a:solidFill>
                  <a:srgbClr val="464F5A"/>
                </a:solidFill>
              </a:defRPr>
            </a:pPr>
            <a:r>
              <a:t>questionários • entrevistas</a:t>
            </a:r>
            <a:br/>
            <a:r>
              <a:t>protótipos • testes</a:t>
            </a:r>
          </a:p>
        </p:txBody>
      </p:sp>
      <p:cxnSp>
        <p:nvCxnSpPr>
          <p:cNvPr id="12" name="Connector 11"/>
          <p:cNvCxnSpPr/>
          <p:nvPr/>
        </p:nvCxnSpPr>
        <p:spPr>
          <a:xfrm flipH="1" flipV="1">
            <a:off x="1760220.0" y="1988820.0"/>
            <a:ext cx="3429000.0" cy="973836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760220.0" y="2962656.0"/>
            <a:ext cx="3429000.0" cy="1403604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4411980.0" y="2962656.0"/>
            <a:ext cx="777240.0" cy="2226564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189220.0" y="2962656.0"/>
            <a:ext cx="2514600.0" cy="1403604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5189220.0" y="1988820.0"/>
            <a:ext cx="2514600.0" cy="973836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H="1" flipV="1">
            <a:off x="4411980.0" y="1623060.0"/>
            <a:ext cx="777240.0" cy="1339596.0"/>
          </a:xfrm>
          <a:prstGeom prst="line">
            <a:avLst/>
          </a:prstGeom>
          <a:ln w="17780">
            <a:solidFill>
              <a:srgbClr val="A0AFC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4360" y="5989320"/>
            <a:ext cx="8321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17365D"/>
                </a:solidFill>
              </a:defRPr>
            </a:pPr>
            <a:r>
              <a:t>AC1: hipóteses iniciais documentadas → próxima etapa: validar com usuários e parceiros e ajustar o MVP.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2026-09-09T17:36:58.1780000Z</dcterms:created>
  <dcterms:modified xsi:type="dcterms:W3CDTF">2026-09-09T17:36:58.1780000Z</dcterms:modified>
</coreProperties>
</file>